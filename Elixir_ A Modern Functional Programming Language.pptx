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embeddedFontLst>
    <p:embeddedFont>
      <p:font typeface="微软雅黑" panose="020B0503020204020204" pitchFamily="34" charset="-122"/>
      <p:regular r:id="rId22"/>
      <p:bold r:id="rId23"/>
    </p:embeddedFont>
    <p:embeddedFont>
      <p:font typeface="MiSans" pitchFamily="2" charset="-122"/>
      <p:regular r:id="rId24"/>
    </p:embeddedFont>
    <p:embeddedFont>
      <p:font typeface="Hedvig Letters Sans"/>
      <p:regular r:id="rId25"/>
    </p:embeddedFont>
    <p:embeddedFont>
      <p:font typeface="Liter" panose="02000503030000020004"/>
      <p:regular r:id="rId26"/>
    </p:embeddedFont>
    <p:embeddedFont>
      <p:font typeface="Quattrocento Sans" panose="020B0502050000020003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18"/>
    <p:restoredTop sz="94610"/>
  </p:normalViewPr>
  <p:slideViewPr>
    <p:cSldViewPr snapToGrid="0" snapToObjects="1">
      <p:cViewPr>
        <p:scale>
          <a:sx n="145" d="100"/>
          <a:sy n="145" d="100"/>
        </p:scale>
        <p:origin x="160" y="1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41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c6bfebdbaeebd1e7014968daff457c5930b5478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8175" y="179407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B9F8E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385763"/>
            <a:ext cx="3350214" cy="390525"/>
          </a:xfrm>
          <a:custGeom>
            <a:avLst/>
            <a:gdLst/>
            <a:ahLst/>
            <a:cxnLst/>
            <a:rect l="l" t="t" r="r" b="b"/>
            <a:pathLst>
              <a:path w="2505075" h="390525">
                <a:moveTo>
                  <a:pt x="195263" y="0"/>
                </a:moveTo>
                <a:lnTo>
                  <a:pt x="2309813" y="0"/>
                </a:lnTo>
                <a:cubicBezTo>
                  <a:pt x="2417581" y="0"/>
                  <a:pt x="2505075" y="87494"/>
                  <a:pt x="2505075" y="195263"/>
                </a:cubicBezTo>
                <a:lnTo>
                  <a:pt x="2505075" y="195263"/>
                </a:lnTo>
                <a:cubicBezTo>
                  <a:pt x="2505075" y="303031"/>
                  <a:pt x="2417581" y="390525"/>
                  <a:pt x="23098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 w="12700">
            <a:solidFill>
              <a:srgbClr val="4B9F8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42925" y="474519"/>
            <a:ext cx="31930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 524 Principles Programming Language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09650"/>
            <a:ext cx="1809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Elixir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19300"/>
            <a:ext cx="725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4B9F8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 Modern Functional Programming Language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2705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1000" y="304800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Academic Introduction to Concurrency, Fault Tolerance, and Distributed Systems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7700" y="6248400"/>
            <a:ext cx="1163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2026</a:t>
            </a:r>
            <a:endParaRPr lang="en-US" sz="16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0F40DD0-D784-9A82-8384-7357F0F6E991}"/>
              </a:ext>
            </a:extLst>
          </p:cNvPr>
          <p:cNvSpPr/>
          <p:nvPr/>
        </p:nvSpPr>
        <p:spPr>
          <a:xfrm>
            <a:off x="9365673" y="352425"/>
            <a:ext cx="2221081" cy="33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✍️ Prajun Trital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00050" y="17907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B9F8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7907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201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1975" y="2019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1981200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History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228600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Origins, creator, and philosophy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8575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5C677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0050" y="28575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9600" y="3086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1975" y="30861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9200" y="3048000"/>
            <a:ext cx="286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Domains &amp; Environment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352800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Elixir excels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9243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0050" y="39243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9600" y="4152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1975" y="4152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9200" y="411480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Language Features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44196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defining characteristics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49911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B9F8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0050" y="49911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9600" y="521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1975" y="5219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9200" y="5181600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19200" y="5486400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Syntax, concurrency, supervision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29350" y="17907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5C677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29350" y="17907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38900" y="201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91275" y="2019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8500" y="1981200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Adoption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8500" y="228600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Companies and use cases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9350" y="28575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29350" y="28575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38900" y="3086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91275" y="30861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48500" y="304800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8500" y="33528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Strengths, limitations, viability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29350" y="39243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B9F8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29350" y="39243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38900" y="4152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91275" y="4152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48500" y="4114800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48500" y="441960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learn Elixir?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29350" y="4991100"/>
            <a:ext cx="5581650" cy="914400"/>
          </a:xfrm>
          <a:custGeom>
            <a:avLst/>
            <a:gdLst/>
            <a:ahLst/>
            <a:cxnLst/>
            <a:rect l="l" t="t" r="r" b="b"/>
            <a:pathLst>
              <a:path w="5581650" h="914400">
                <a:moveTo>
                  <a:pt x="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838203"/>
                </a:lnTo>
                <a:cubicBezTo>
                  <a:pt x="5581650" y="880285"/>
                  <a:pt x="5547535" y="914400"/>
                  <a:pt x="5505453" y="914400"/>
                </a:cubicBez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5C677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29350" y="49911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38900" y="521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391275" y="5219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48500" y="518160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48500" y="548640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sources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61950" cy="266700"/>
          </a:xfrm>
          <a:custGeom>
            <a:avLst/>
            <a:gdLst/>
            <a:ahLst/>
            <a:cxnLst/>
            <a:rect l="l" t="t" r="r" b="b"/>
            <a:pathLst>
              <a:path w="361950" h="2667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228599"/>
                </a:lnTo>
                <a:cubicBezTo>
                  <a:pt x="361950" y="249642"/>
                  <a:pt x="344892" y="266700"/>
                  <a:pt x="3238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2785" y="40005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History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Elixir?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1000" y="1447800"/>
            <a:ext cx="6877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Origins &amp; Creator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866900"/>
            <a:ext cx="68389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Elixir was created by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José Valim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 Brazilian software engineer and former Rails core team member. Development began in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2011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the first stable release (v0.5) in May 2012. Valim's motivation stemmed from experiencing race condition bugs in Ruby on Rails applications running on multi-core systems.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3048000"/>
            <a:ext cx="6877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3467100"/>
            <a:ext cx="6838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languages like Ruby lacked protection against race conditions caused by improper synchronization of memory access in concurrent environments. Valim sought a solution that would eliminate entire categories of concurrency bugs.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000" y="4400550"/>
            <a:ext cx="6877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1000" y="4819650"/>
            <a:ext cx="6838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key discoveries shaped Elixir: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 programming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(specifically immutability) and the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Erlang Virtual Machine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Immutability eliminated shared state problems, while BEAM provided battle-tested concurrency primitives.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80908" y="1452563"/>
            <a:ext cx="4429125" cy="2181225"/>
          </a:xfrm>
          <a:custGeom>
            <a:avLst/>
            <a:gdLst/>
            <a:ahLst/>
            <a:cxnLst/>
            <a:rect l="l" t="t" r="r" b="b"/>
            <a:pathLst>
              <a:path w="4429125" h="2181225">
                <a:moveTo>
                  <a:pt x="76190" y="0"/>
                </a:moveTo>
                <a:lnTo>
                  <a:pt x="4352935" y="0"/>
                </a:lnTo>
                <a:cubicBezTo>
                  <a:pt x="4395013" y="0"/>
                  <a:pt x="4429125" y="34112"/>
                  <a:pt x="4429125" y="76190"/>
                </a:cubicBezTo>
                <a:lnTo>
                  <a:pt x="4429125" y="2105035"/>
                </a:lnTo>
                <a:cubicBezTo>
                  <a:pt x="4429125" y="2147113"/>
                  <a:pt x="4395013" y="2181225"/>
                  <a:pt x="4352935" y="2181225"/>
                </a:cubicBezTo>
                <a:lnTo>
                  <a:pt x="76190" y="2181225"/>
                </a:lnTo>
                <a:cubicBezTo>
                  <a:pt x="34112" y="2181225"/>
                  <a:pt x="0" y="2147113"/>
                  <a:pt x="0" y="210503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23795" y="16859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4295" y="1647825"/>
            <a:ext cx="389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Philosophy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95220" y="213324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80970" y="2066925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Functional: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Immutable data, pure functions, pattern matching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95220" y="271038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80970" y="2638425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Concurrent: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Lightweight processes, message passing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95220" y="314924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80970" y="2981325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Fault-Tolerant: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"Let it crash" philosophy, supervision trees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80908" y="3795713"/>
            <a:ext cx="4429125" cy="1343025"/>
          </a:xfrm>
          <a:custGeom>
            <a:avLst/>
            <a:gdLst/>
            <a:ahLst/>
            <a:cxnLst/>
            <a:rect l="l" t="t" r="r" b="b"/>
            <a:pathLst>
              <a:path w="4429125" h="1343025">
                <a:moveTo>
                  <a:pt x="76203" y="0"/>
                </a:moveTo>
                <a:lnTo>
                  <a:pt x="4352922" y="0"/>
                </a:lnTo>
                <a:cubicBezTo>
                  <a:pt x="4395008" y="0"/>
                  <a:pt x="4429125" y="34117"/>
                  <a:pt x="4429125" y="76203"/>
                </a:cubicBezTo>
                <a:lnTo>
                  <a:pt x="4429125" y="1266822"/>
                </a:lnTo>
                <a:cubicBezTo>
                  <a:pt x="4429125" y="1308908"/>
                  <a:pt x="4395008" y="1343025"/>
                  <a:pt x="4352922" y="1343025"/>
                </a:cubicBezTo>
                <a:lnTo>
                  <a:pt x="76203" y="1343025"/>
                </a:lnTo>
                <a:cubicBezTo>
                  <a:pt x="34117" y="1343025"/>
                  <a:pt x="0" y="1308908"/>
                  <a:pt x="0" y="1266822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76170" y="3990975"/>
            <a:ext cx="413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Goals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76170" y="44481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28570" y="4371975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productivity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50685" y="44481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03085" y="43719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extensibility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76170" y="47910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28570" y="4714875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Erlang compatibility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650685" y="47910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803085" y="471487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syntax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61950" cy="266700"/>
          </a:xfrm>
          <a:custGeom>
            <a:avLst/>
            <a:gdLst/>
            <a:ahLst/>
            <a:cxnLst/>
            <a:rect l="l" t="t" r="r" b="b"/>
            <a:pathLst>
              <a:path w="361950" h="2667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228599"/>
                </a:lnTo>
                <a:cubicBezTo>
                  <a:pt x="361950" y="249642"/>
                  <a:pt x="344892" y="266700"/>
                  <a:pt x="3238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2785" y="40005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History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Elixir &amp; The BEAM Ecosystem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5763" y="1452563"/>
            <a:ext cx="7543800" cy="2581275"/>
          </a:xfrm>
          <a:custGeom>
            <a:avLst/>
            <a:gdLst/>
            <a:ahLst/>
            <a:cxnLst/>
            <a:rect l="l" t="t" r="r" b="b"/>
            <a:pathLst>
              <a:path w="7543800" h="2581275">
                <a:moveTo>
                  <a:pt x="76199" y="0"/>
                </a:moveTo>
                <a:lnTo>
                  <a:pt x="7467601" y="0"/>
                </a:lnTo>
                <a:cubicBezTo>
                  <a:pt x="7509684" y="0"/>
                  <a:pt x="7543800" y="34116"/>
                  <a:pt x="7543800" y="76199"/>
                </a:cubicBezTo>
                <a:lnTo>
                  <a:pt x="7543800" y="2505076"/>
                </a:lnTo>
                <a:cubicBezTo>
                  <a:pt x="7543800" y="2547159"/>
                  <a:pt x="7509684" y="2581275"/>
                  <a:pt x="7467601" y="2581275"/>
                </a:cubicBezTo>
                <a:lnTo>
                  <a:pt x="76199" y="2581275"/>
                </a:lnTo>
                <a:cubicBezTo>
                  <a:pt x="34116" y="2581275"/>
                  <a:pt x="0" y="2547159"/>
                  <a:pt x="0" y="25050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1025" y="1647825"/>
            <a:ext cx="7267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BEAM Virtual Machine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105025"/>
            <a:ext cx="72294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BEAM (Bogdan/Björn's Erlang Abstract Machine) is the runtime environment for Erlang and Elixir. Originally developed at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Ericsson in 1986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telecommunications systems requiring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99.999% uptime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(less than 5 minutes downtime per year).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025" y="3000375"/>
            <a:ext cx="3505200" cy="838200"/>
          </a:xfrm>
          <a:custGeom>
            <a:avLst/>
            <a:gdLst/>
            <a:ahLst/>
            <a:cxnLst/>
            <a:rect l="l" t="t" r="r" b="b"/>
            <a:pathLst>
              <a:path w="3505200" h="838200">
                <a:moveTo>
                  <a:pt x="38096" y="0"/>
                </a:moveTo>
                <a:lnTo>
                  <a:pt x="3467104" y="0"/>
                </a:lnTo>
                <a:cubicBezTo>
                  <a:pt x="3488144" y="0"/>
                  <a:pt x="3505200" y="17056"/>
                  <a:pt x="3505200" y="38096"/>
                </a:cubicBezTo>
                <a:lnTo>
                  <a:pt x="3505200" y="800104"/>
                </a:lnTo>
                <a:cubicBezTo>
                  <a:pt x="3505200" y="821144"/>
                  <a:pt x="3488144" y="838200"/>
                  <a:pt x="3467104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5325" y="3114675"/>
            <a:ext cx="3419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325" y="3495675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Years in production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35425" y="3000375"/>
            <a:ext cx="3505200" cy="838200"/>
          </a:xfrm>
          <a:custGeom>
            <a:avLst/>
            <a:gdLst/>
            <a:ahLst/>
            <a:cxnLst/>
            <a:rect l="l" t="t" r="r" b="b"/>
            <a:pathLst>
              <a:path w="3505200" h="838200">
                <a:moveTo>
                  <a:pt x="38096" y="0"/>
                </a:moveTo>
                <a:lnTo>
                  <a:pt x="3467104" y="0"/>
                </a:lnTo>
                <a:cubicBezTo>
                  <a:pt x="3488144" y="0"/>
                  <a:pt x="3505200" y="17056"/>
                  <a:pt x="3505200" y="38096"/>
                </a:cubicBezTo>
                <a:lnTo>
                  <a:pt x="3505200" y="800104"/>
                </a:lnTo>
                <a:cubicBezTo>
                  <a:pt x="3505200" y="821144"/>
                  <a:pt x="3488144" y="838200"/>
                  <a:pt x="3467104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49725" y="3114675"/>
            <a:ext cx="3419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9725" y="3495675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Nines of reliability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2713" y="1452563"/>
            <a:ext cx="3676650" cy="2581275"/>
          </a:xfrm>
          <a:custGeom>
            <a:avLst/>
            <a:gdLst/>
            <a:ahLst/>
            <a:cxnLst/>
            <a:rect l="l" t="t" r="r" b="b"/>
            <a:pathLst>
              <a:path w="3676650" h="2581275">
                <a:moveTo>
                  <a:pt x="76199" y="0"/>
                </a:moveTo>
                <a:lnTo>
                  <a:pt x="3600451" y="0"/>
                </a:lnTo>
                <a:cubicBezTo>
                  <a:pt x="3642534" y="0"/>
                  <a:pt x="3676650" y="34116"/>
                  <a:pt x="3676650" y="76199"/>
                </a:cubicBezTo>
                <a:lnTo>
                  <a:pt x="3676650" y="2505076"/>
                </a:lnTo>
                <a:cubicBezTo>
                  <a:pt x="3676650" y="2547159"/>
                  <a:pt x="3642534" y="2581275"/>
                  <a:pt x="3600451" y="2581275"/>
                </a:cubicBezTo>
                <a:lnTo>
                  <a:pt x="76199" y="2581275"/>
                </a:lnTo>
                <a:cubicBezTo>
                  <a:pt x="34116" y="2581275"/>
                  <a:pt x="0" y="2547159"/>
                  <a:pt x="0" y="25050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7975" y="168592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Elixir vs Erlang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7975" y="2105025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Elixir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7975" y="2371725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Ruby-inspired syntax, modern tooling, macros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27975" y="2719388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C677D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27975" y="2838450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Erlang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7975" y="3105150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Prolog-inspired syntax, more verbose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27975" y="3452813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C677D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47025" y="36052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32031" y="3600450"/>
            <a:ext cx="241101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compile to the same bytecode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4233863"/>
            <a:ext cx="2733675" cy="1285875"/>
          </a:xfrm>
          <a:custGeom>
            <a:avLst/>
            <a:gdLst/>
            <a:ahLst/>
            <a:cxnLst/>
            <a:rect l="l" t="t" r="r" b="b"/>
            <a:pathLst>
              <a:path w="2733675" h="1285875">
                <a:moveTo>
                  <a:pt x="76201" y="0"/>
                </a:moveTo>
                <a:lnTo>
                  <a:pt x="2657474" y="0"/>
                </a:lnTo>
                <a:cubicBezTo>
                  <a:pt x="2699559" y="0"/>
                  <a:pt x="2733675" y="34116"/>
                  <a:pt x="2733675" y="76201"/>
                </a:cubicBezTo>
                <a:lnTo>
                  <a:pt x="2733675" y="1209674"/>
                </a:lnTo>
                <a:cubicBezTo>
                  <a:pt x="2733675" y="1251759"/>
                  <a:pt x="2699559" y="1285875"/>
                  <a:pt x="2657474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612106" y="4391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0063" y="4791075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Elixir Code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4825" y="513397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syntax, macros, tooling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81363" y="4233863"/>
            <a:ext cx="2733675" cy="1285875"/>
          </a:xfrm>
          <a:custGeom>
            <a:avLst/>
            <a:gdLst/>
            <a:ahLst/>
            <a:cxnLst/>
            <a:rect l="l" t="t" r="r" b="b"/>
            <a:pathLst>
              <a:path w="2733675" h="1285875">
                <a:moveTo>
                  <a:pt x="76201" y="0"/>
                </a:moveTo>
                <a:lnTo>
                  <a:pt x="2657474" y="0"/>
                </a:lnTo>
                <a:cubicBezTo>
                  <a:pt x="2699559" y="0"/>
                  <a:pt x="2733675" y="34116"/>
                  <a:pt x="2733675" y="76201"/>
                </a:cubicBezTo>
                <a:lnTo>
                  <a:pt x="2733675" y="1209674"/>
                </a:lnTo>
                <a:cubicBezTo>
                  <a:pt x="2733675" y="1251759"/>
                  <a:pt x="2699559" y="1285875"/>
                  <a:pt x="2657474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62475" y="44672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00425" y="47720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Compiles to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6963" y="4233863"/>
            <a:ext cx="2733675" cy="1285875"/>
          </a:xfrm>
          <a:custGeom>
            <a:avLst/>
            <a:gdLst/>
            <a:ahLst/>
            <a:cxnLst/>
            <a:rect l="l" t="t" r="r" b="b"/>
            <a:pathLst>
              <a:path w="2733675" h="1285875">
                <a:moveTo>
                  <a:pt x="76201" y="0"/>
                </a:moveTo>
                <a:lnTo>
                  <a:pt x="2657474" y="0"/>
                </a:lnTo>
                <a:cubicBezTo>
                  <a:pt x="2699559" y="0"/>
                  <a:pt x="2733675" y="34116"/>
                  <a:pt x="2733675" y="76201"/>
                </a:cubicBezTo>
                <a:lnTo>
                  <a:pt x="2733675" y="1209674"/>
                </a:lnTo>
                <a:cubicBezTo>
                  <a:pt x="2733675" y="1251759"/>
                  <a:pt x="2699559" y="1285875"/>
                  <a:pt x="2657474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403306" y="4391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91263" y="4791075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BEAM Bytecode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96025" y="513397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as Erlang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72563" y="4233863"/>
            <a:ext cx="2733675" cy="1285875"/>
          </a:xfrm>
          <a:custGeom>
            <a:avLst/>
            <a:gdLst/>
            <a:ahLst/>
            <a:cxnLst/>
            <a:rect l="l" t="t" r="r" b="b"/>
            <a:pathLst>
              <a:path w="2733675" h="1285875">
                <a:moveTo>
                  <a:pt x="76201" y="0"/>
                </a:moveTo>
                <a:lnTo>
                  <a:pt x="2657474" y="0"/>
                </a:lnTo>
                <a:cubicBezTo>
                  <a:pt x="2699559" y="0"/>
                  <a:pt x="2733675" y="34116"/>
                  <a:pt x="2733675" y="76201"/>
                </a:cubicBezTo>
                <a:lnTo>
                  <a:pt x="2733675" y="1209674"/>
                </a:lnTo>
                <a:cubicBezTo>
                  <a:pt x="2733675" y="1251759"/>
                  <a:pt x="2699559" y="1285875"/>
                  <a:pt x="2657474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316766" y="43910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86863" y="4791075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91625" y="513397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Processes, scheduling, GC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5763" y="571976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66725"/>
                </a:lnTo>
                <a:cubicBezTo>
                  <a:pt x="11420475" y="508809"/>
                  <a:pt x="11386359" y="542925"/>
                  <a:pt x="113442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61975" y="59102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90575" y="5876925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Interoperability: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Elixir can call any Erlang function directly, and vice versa. This means Elixir developers have access to 30+ years of battle-tested libraries.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266700"/>
          </a:xfrm>
          <a:custGeom>
            <a:avLst/>
            <a:gdLst/>
            <a:ahLst/>
            <a:cxnLst/>
            <a:rect l="l" t="t" r="r" b="b"/>
            <a:pathLst>
              <a:path w="381000" h="2667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228599"/>
                </a:lnTo>
                <a:cubicBezTo>
                  <a:pt x="381000" y="249642"/>
                  <a:pt x="363942" y="266700"/>
                  <a:pt x="3428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C677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47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C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8384" y="40005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Domains &amp; Environment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Elixir Excels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5763" y="1414463"/>
            <a:ext cx="5610225" cy="1400175"/>
          </a:xfrm>
          <a:custGeom>
            <a:avLst/>
            <a:gdLst/>
            <a:ahLst/>
            <a:cxnLst/>
            <a:rect l="l" t="t" r="r" b="b"/>
            <a:pathLst>
              <a:path w="5610225" h="1400175">
                <a:moveTo>
                  <a:pt x="76198" y="0"/>
                </a:moveTo>
                <a:lnTo>
                  <a:pt x="5534027" y="0"/>
                </a:lnTo>
                <a:cubicBezTo>
                  <a:pt x="5576110" y="0"/>
                  <a:pt x="5610225" y="34115"/>
                  <a:pt x="5610225" y="76198"/>
                </a:cubicBezTo>
                <a:lnTo>
                  <a:pt x="5610225" y="1323977"/>
                </a:lnTo>
                <a:cubicBezTo>
                  <a:pt x="5610225" y="1366060"/>
                  <a:pt x="5576110" y="1400175"/>
                  <a:pt x="553402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2925" y="1571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1038" y="17240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28725" y="157162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 Systems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8725" y="1914525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 running across multiple machines with transparent communication. Elixir's built-in distribution makes clustering seamless.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2976563"/>
            <a:ext cx="5610225" cy="1152525"/>
          </a:xfrm>
          <a:custGeom>
            <a:avLst/>
            <a:gdLst/>
            <a:ahLst/>
            <a:cxnLst/>
            <a:rect l="l" t="t" r="r" b="b"/>
            <a:pathLst>
              <a:path w="5610225" h="1152525">
                <a:moveTo>
                  <a:pt x="76205" y="0"/>
                </a:moveTo>
                <a:lnTo>
                  <a:pt x="5534020" y="0"/>
                </a:lnTo>
                <a:cubicBezTo>
                  <a:pt x="5576107" y="0"/>
                  <a:pt x="5610225" y="34118"/>
                  <a:pt x="5610225" y="76205"/>
                </a:cubicBezTo>
                <a:lnTo>
                  <a:pt x="5610225" y="1076320"/>
                </a:lnTo>
                <a:cubicBezTo>
                  <a:pt x="5610225" y="1118407"/>
                  <a:pt x="5576107" y="1152525"/>
                  <a:pt x="553402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2925" y="3133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677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9613" y="32861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28725" y="313372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Applications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8725" y="3476625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 systems, live dashboards, collaborative tools requiring instant updates. Phoenix LiveView enables real-time UIs without JavaScript.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4291013"/>
            <a:ext cx="5610225" cy="1152525"/>
          </a:xfrm>
          <a:custGeom>
            <a:avLst/>
            <a:gdLst/>
            <a:ahLst/>
            <a:cxnLst/>
            <a:rect l="l" t="t" r="r" b="b"/>
            <a:pathLst>
              <a:path w="5610225" h="1152525">
                <a:moveTo>
                  <a:pt x="76205" y="0"/>
                </a:moveTo>
                <a:lnTo>
                  <a:pt x="5534020" y="0"/>
                </a:lnTo>
                <a:cubicBezTo>
                  <a:pt x="5576107" y="0"/>
                  <a:pt x="5610225" y="34118"/>
                  <a:pt x="5610225" y="76205"/>
                </a:cubicBezTo>
                <a:lnTo>
                  <a:pt x="5610225" y="1076320"/>
                </a:lnTo>
                <a:cubicBezTo>
                  <a:pt x="5610225" y="1118407"/>
                  <a:pt x="5576107" y="1152525"/>
                  <a:pt x="553402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2925" y="44481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6750" y="46005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28725" y="44481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High-Concurrency Services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8725" y="4791075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Systems handling millions of simultaneous connections. BEAM processes are lightweight (2KB) vs. OS threads (1MB+).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6013" y="1414463"/>
            <a:ext cx="5610225" cy="1152525"/>
          </a:xfrm>
          <a:custGeom>
            <a:avLst/>
            <a:gdLst/>
            <a:ahLst/>
            <a:cxnLst/>
            <a:rect l="l" t="t" r="r" b="b"/>
            <a:pathLst>
              <a:path w="5610225" h="1152525">
                <a:moveTo>
                  <a:pt x="76205" y="0"/>
                </a:moveTo>
                <a:lnTo>
                  <a:pt x="5534020" y="0"/>
                </a:lnTo>
                <a:cubicBezTo>
                  <a:pt x="5576107" y="0"/>
                  <a:pt x="5610225" y="34118"/>
                  <a:pt x="5610225" y="76205"/>
                </a:cubicBezTo>
                <a:lnTo>
                  <a:pt x="5610225" y="1076320"/>
                </a:lnTo>
                <a:cubicBezTo>
                  <a:pt x="5610225" y="1118407"/>
                  <a:pt x="5576107" y="1152525"/>
                  <a:pt x="553402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53175" y="1571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05575" y="1724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38975" y="157162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Fault-Tolerant Systems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38975" y="1914525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 requiring 99.999% uptime. Supervision trees enable self-healing systems that recover automatically from failures.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6013" y="2728913"/>
            <a:ext cx="5610225" cy="1400175"/>
          </a:xfrm>
          <a:custGeom>
            <a:avLst/>
            <a:gdLst/>
            <a:ahLst/>
            <a:cxnLst/>
            <a:rect l="l" t="t" r="r" b="b"/>
            <a:pathLst>
              <a:path w="5610225" h="1400175">
                <a:moveTo>
                  <a:pt x="76198" y="0"/>
                </a:moveTo>
                <a:lnTo>
                  <a:pt x="5534027" y="0"/>
                </a:lnTo>
                <a:cubicBezTo>
                  <a:pt x="5576110" y="0"/>
                  <a:pt x="5610225" y="34115"/>
                  <a:pt x="5610225" y="76198"/>
                </a:cubicBezTo>
                <a:lnTo>
                  <a:pt x="5610225" y="1323977"/>
                </a:lnTo>
                <a:cubicBezTo>
                  <a:pt x="5610225" y="1366060"/>
                  <a:pt x="5576110" y="1400175"/>
                  <a:pt x="553402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53175" y="2886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677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34150" y="30384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38975" y="28860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&amp; Embedded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38975" y="3228975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Nerves project brings Elixir to embedded devices. Lightweight processes and fault tolerance ideal for resource-constrained environments.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6013" y="4291013"/>
            <a:ext cx="5610225" cy="1152525"/>
          </a:xfrm>
          <a:custGeom>
            <a:avLst/>
            <a:gdLst/>
            <a:ahLst/>
            <a:cxnLst/>
            <a:rect l="l" t="t" r="r" b="b"/>
            <a:pathLst>
              <a:path w="5610225" h="1152525">
                <a:moveTo>
                  <a:pt x="76205" y="0"/>
                </a:moveTo>
                <a:lnTo>
                  <a:pt x="5534020" y="0"/>
                </a:lnTo>
                <a:cubicBezTo>
                  <a:pt x="5576107" y="0"/>
                  <a:pt x="5610225" y="34118"/>
                  <a:pt x="5610225" y="76205"/>
                </a:cubicBezTo>
                <a:lnTo>
                  <a:pt x="5610225" y="1076320"/>
                </a:lnTo>
                <a:cubicBezTo>
                  <a:pt x="5610225" y="1118407"/>
                  <a:pt x="5576107" y="1152525"/>
                  <a:pt x="553402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53175" y="44481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91288" y="46005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38975" y="44481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Messaging Platforms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38975" y="4791075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Message brokers, notification systems, event streaming. Pattern matching makes handling diverse message types elegant.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5776913"/>
            <a:ext cx="11420475" cy="695325"/>
          </a:xfrm>
          <a:custGeom>
            <a:avLst/>
            <a:gdLst/>
            <a:ahLst/>
            <a:cxnLst/>
            <a:rect l="l" t="t" r="r" b="b"/>
            <a:pathLst>
              <a:path w="11420475" h="695325">
                <a:moveTo>
                  <a:pt x="76201" y="0"/>
                </a:moveTo>
                <a:lnTo>
                  <a:pt x="11344274" y="0"/>
                </a:lnTo>
                <a:cubicBezTo>
                  <a:pt x="11386359" y="0"/>
                  <a:pt x="11420475" y="34116"/>
                  <a:pt x="11420475" y="76201"/>
                </a:cubicBezTo>
                <a:lnTo>
                  <a:pt x="11420475" y="619124"/>
                </a:lnTo>
                <a:cubicBezTo>
                  <a:pt x="11420475" y="661209"/>
                  <a:pt x="11386359" y="695325"/>
                  <a:pt x="113442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42925" y="592931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52475" y="5895975"/>
            <a:ext cx="1101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Elixir is not a general-purpose replacement for Python/Java. It's a specialized tool for problems requiring massive concurrency, distribution, or fault tolerance.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266700"/>
          </a:xfrm>
          <a:custGeom>
            <a:avLst/>
            <a:gdLst/>
            <a:ahLst/>
            <a:cxnLst/>
            <a:rect l="l" t="t" r="r" b="b"/>
            <a:pathLst>
              <a:path w="381000" h="2667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228599"/>
                </a:lnTo>
                <a:cubicBezTo>
                  <a:pt x="381000" y="249642"/>
                  <a:pt x="363942" y="266700"/>
                  <a:pt x="3428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C677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47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C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8384" y="40005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Domains &amp; Environment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Environment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5763" y="1452563"/>
            <a:ext cx="3676650" cy="5019675"/>
          </a:xfrm>
          <a:custGeom>
            <a:avLst/>
            <a:gdLst/>
            <a:ahLst/>
            <a:cxnLst/>
            <a:rect l="l" t="t" r="r" b="b"/>
            <a:pathLst>
              <a:path w="3676650" h="5019675">
                <a:moveTo>
                  <a:pt x="76217" y="0"/>
                </a:moveTo>
                <a:lnTo>
                  <a:pt x="3600433" y="0"/>
                </a:lnTo>
                <a:cubicBezTo>
                  <a:pt x="3642527" y="0"/>
                  <a:pt x="3676650" y="34123"/>
                  <a:pt x="3676650" y="76217"/>
                </a:cubicBezTo>
                <a:lnTo>
                  <a:pt x="3676650" y="4943458"/>
                </a:lnTo>
                <a:cubicBezTo>
                  <a:pt x="3676650" y="4985552"/>
                  <a:pt x="3642527" y="5019675"/>
                  <a:pt x="3600433" y="5019675"/>
                </a:cubicBezTo>
                <a:lnTo>
                  <a:pt x="76217" y="5019675"/>
                </a:lnTo>
                <a:cubicBezTo>
                  <a:pt x="34123" y="5019675"/>
                  <a:pt x="0" y="4985552"/>
                  <a:pt x="0" y="4943458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9125" y="16573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183" y="-1395"/>
                </a:moveTo>
                <a:cubicBezTo>
                  <a:pt x="136234" y="-7758"/>
                  <a:pt x="149851" y="-7758"/>
                  <a:pt x="160902" y="-1395"/>
                </a:cubicBezTo>
                <a:lnTo>
                  <a:pt x="259073" y="55252"/>
                </a:lnTo>
                <a:cubicBezTo>
                  <a:pt x="270123" y="61615"/>
                  <a:pt x="276932" y="73447"/>
                  <a:pt x="276932" y="86171"/>
                </a:cubicBezTo>
                <a:lnTo>
                  <a:pt x="276932" y="199467"/>
                </a:lnTo>
                <a:cubicBezTo>
                  <a:pt x="276932" y="212248"/>
                  <a:pt x="270123" y="224024"/>
                  <a:pt x="259073" y="230386"/>
                </a:cubicBezTo>
                <a:lnTo>
                  <a:pt x="160902" y="287145"/>
                </a:lnTo>
                <a:cubicBezTo>
                  <a:pt x="149851" y="293508"/>
                  <a:pt x="136234" y="293508"/>
                  <a:pt x="125183" y="287145"/>
                </a:cubicBezTo>
                <a:lnTo>
                  <a:pt x="27068" y="230498"/>
                </a:lnTo>
                <a:cubicBezTo>
                  <a:pt x="16018" y="224135"/>
                  <a:pt x="9209" y="212303"/>
                  <a:pt x="9209" y="199579"/>
                </a:cubicBezTo>
                <a:lnTo>
                  <a:pt x="9209" y="86283"/>
                </a:lnTo>
                <a:cubicBezTo>
                  <a:pt x="9209" y="73502"/>
                  <a:pt x="16018" y="61726"/>
                  <a:pt x="27068" y="55364"/>
                </a:cubicBezTo>
                <a:lnTo>
                  <a:pt x="125183" y="-1395"/>
                </a:lnTo>
                <a:close/>
                <a:moveTo>
                  <a:pt x="241157" y="199523"/>
                </a:moveTo>
                <a:lnTo>
                  <a:pt x="241157" y="106821"/>
                </a:lnTo>
                <a:lnTo>
                  <a:pt x="160902" y="153144"/>
                </a:lnTo>
                <a:lnTo>
                  <a:pt x="160902" y="245845"/>
                </a:lnTo>
                <a:lnTo>
                  <a:pt x="241157" y="199523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2513" y="1647825"/>
            <a:ext cx="56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105025"/>
            <a:ext cx="33623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Telecom Platform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comprehensive framework for building reliable systems. Not just libraries, but design principles proven over 30 years.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32861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7725" y="3248025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GenServer (stateful processes)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" y="35909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7725" y="3552825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Supervisors (fault recovery)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3895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7725" y="3857625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 (code organization)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4200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7725" y="4162425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Releases (deployment)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59238" y="1452563"/>
            <a:ext cx="3676650" cy="4067175"/>
          </a:xfrm>
          <a:custGeom>
            <a:avLst/>
            <a:gdLst/>
            <a:ahLst/>
            <a:cxnLst/>
            <a:rect l="l" t="t" r="r" b="b"/>
            <a:pathLst>
              <a:path w="3676650" h="4067175">
                <a:moveTo>
                  <a:pt x="76217" y="0"/>
                </a:moveTo>
                <a:lnTo>
                  <a:pt x="3600433" y="0"/>
                </a:lnTo>
                <a:cubicBezTo>
                  <a:pt x="3642527" y="0"/>
                  <a:pt x="3676650" y="34123"/>
                  <a:pt x="3676650" y="76217"/>
                </a:cubicBezTo>
                <a:lnTo>
                  <a:pt x="3676650" y="3990958"/>
                </a:lnTo>
                <a:cubicBezTo>
                  <a:pt x="3676650" y="4033052"/>
                  <a:pt x="3642527" y="4067175"/>
                  <a:pt x="3600433" y="4067175"/>
                </a:cubicBezTo>
                <a:lnTo>
                  <a:pt x="76217" y="4067175"/>
                </a:lnTo>
                <a:cubicBezTo>
                  <a:pt x="34123" y="4067175"/>
                  <a:pt x="0" y="4033052"/>
                  <a:pt x="0" y="3990958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10460" y="16573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89576" y="-14734"/>
                </a:moveTo>
                <a:cubicBezTo>
                  <a:pt x="94766" y="-19087"/>
                  <a:pt x="102412" y="-18920"/>
                  <a:pt x="107379" y="-14232"/>
                </a:cubicBezTo>
                <a:cubicBezTo>
                  <a:pt x="114244" y="-7758"/>
                  <a:pt x="120383" y="-614"/>
                  <a:pt x="126299" y="6641"/>
                </a:cubicBezTo>
                <a:cubicBezTo>
                  <a:pt x="133834" y="15850"/>
                  <a:pt x="142875" y="28017"/>
                  <a:pt x="151581" y="42472"/>
                </a:cubicBezTo>
                <a:cubicBezTo>
                  <a:pt x="154484" y="38677"/>
                  <a:pt x="157163" y="35328"/>
                  <a:pt x="159507" y="32482"/>
                </a:cubicBezTo>
                <a:cubicBezTo>
                  <a:pt x="160120" y="31756"/>
                  <a:pt x="160734" y="30975"/>
                  <a:pt x="161348" y="30194"/>
                </a:cubicBezTo>
                <a:cubicBezTo>
                  <a:pt x="165757" y="24724"/>
                  <a:pt x="171227" y="17859"/>
                  <a:pt x="178538" y="17859"/>
                </a:cubicBezTo>
                <a:cubicBezTo>
                  <a:pt x="186017" y="17859"/>
                  <a:pt x="191263" y="24501"/>
                  <a:pt x="195728" y="30194"/>
                </a:cubicBezTo>
                <a:cubicBezTo>
                  <a:pt x="196453" y="31142"/>
                  <a:pt x="197179" y="32035"/>
                  <a:pt x="197904" y="32872"/>
                </a:cubicBezTo>
                <a:cubicBezTo>
                  <a:pt x="203653" y="39793"/>
                  <a:pt x="211299" y="49783"/>
                  <a:pt x="218945" y="62117"/>
                </a:cubicBezTo>
                <a:cubicBezTo>
                  <a:pt x="234125" y="86618"/>
                  <a:pt x="249975" y="121500"/>
                  <a:pt x="249975" y="160679"/>
                </a:cubicBezTo>
                <a:cubicBezTo>
                  <a:pt x="249975" y="229716"/>
                  <a:pt x="193997" y="285694"/>
                  <a:pt x="124960" y="285694"/>
                </a:cubicBezTo>
                <a:cubicBezTo>
                  <a:pt x="55922" y="285694"/>
                  <a:pt x="0" y="229772"/>
                  <a:pt x="0" y="160734"/>
                </a:cubicBezTo>
                <a:cubicBezTo>
                  <a:pt x="0" y="109891"/>
                  <a:pt x="22938" y="65856"/>
                  <a:pt x="44927" y="35161"/>
                </a:cubicBezTo>
                <a:cubicBezTo>
                  <a:pt x="56034" y="19701"/>
                  <a:pt x="67084" y="7311"/>
                  <a:pt x="75400" y="-1172"/>
                </a:cubicBezTo>
                <a:cubicBezTo>
                  <a:pt x="79977" y="-5860"/>
                  <a:pt x="84609" y="-10492"/>
                  <a:pt x="89632" y="-14678"/>
                </a:cubicBezTo>
                <a:close/>
                <a:moveTo>
                  <a:pt x="125964" y="232172"/>
                </a:moveTo>
                <a:cubicBezTo>
                  <a:pt x="140084" y="232172"/>
                  <a:pt x="152586" y="228265"/>
                  <a:pt x="164362" y="220452"/>
                </a:cubicBezTo>
                <a:cubicBezTo>
                  <a:pt x="187858" y="204043"/>
                  <a:pt x="194165" y="171227"/>
                  <a:pt x="180045" y="145442"/>
                </a:cubicBezTo>
                <a:cubicBezTo>
                  <a:pt x="177533" y="140419"/>
                  <a:pt x="171115" y="140084"/>
                  <a:pt x="167487" y="144326"/>
                </a:cubicBezTo>
                <a:lnTo>
                  <a:pt x="153423" y="160679"/>
                </a:lnTo>
                <a:cubicBezTo>
                  <a:pt x="149740" y="164920"/>
                  <a:pt x="143098" y="164809"/>
                  <a:pt x="139638" y="160400"/>
                </a:cubicBezTo>
                <a:cubicBezTo>
                  <a:pt x="129983" y="148065"/>
                  <a:pt x="112235" y="125574"/>
                  <a:pt x="103194" y="114077"/>
                </a:cubicBezTo>
                <a:cubicBezTo>
                  <a:pt x="100180" y="110226"/>
                  <a:pt x="94710" y="109612"/>
                  <a:pt x="91194" y="113016"/>
                </a:cubicBezTo>
                <a:cubicBezTo>
                  <a:pt x="80981" y="122951"/>
                  <a:pt x="62452" y="144717"/>
                  <a:pt x="62452" y="171227"/>
                </a:cubicBezTo>
                <a:cubicBezTo>
                  <a:pt x="62452" y="209513"/>
                  <a:pt x="90692" y="232172"/>
                  <a:pt x="125909" y="232172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25988" y="1647825"/>
            <a:ext cx="923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Phoenix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54500" y="2105025"/>
            <a:ext cx="3362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primary web framework. Productivity of Rails with exceptional performance. Response times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1ms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typical.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54500" y="3000375"/>
            <a:ext cx="3286125" cy="723900"/>
          </a:xfrm>
          <a:custGeom>
            <a:avLst/>
            <a:gdLst/>
            <a:ahLst/>
            <a:cxnLst/>
            <a:rect l="l" t="t" r="r" b="b"/>
            <a:pathLst>
              <a:path w="3286125" h="723900">
                <a:moveTo>
                  <a:pt x="38099" y="0"/>
                </a:moveTo>
                <a:lnTo>
                  <a:pt x="3248026" y="0"/>
                </a:lnTo>
                <a:cubicBezTo>
                  <a:pt x="3269053" y="0"/>
                  <a:pt x="3286125" y="17072"/>
                  <a:pt x="3286125" y="38099"/>
                </a:cubicBezTo>
                <a:lnTo>
                  <a:pt x="3286125" y="685801"/>
                </a:lnTo>
                <a:cubicBezTo>
                  <a:pt x="3286125" y="706828"/>
                  <a:pt x="3269053" y="723900"/>
                  <a:pt x="324802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68800" y="311467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Phoenix LiveView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68800" y="338137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UIs without JavaScript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54500" y="3800475"/>
            <a:ext cx="3286125" cy="723900"/>
          </a:xfrm>
          <a:custGeom>
            <a:avLst/>
            <a:gdLst/>
            <a:ahLst/>
            <a:cxnLst/>
            <a:rect l="l" t="t" r="r" b="b"/>
            <a:pathLst>
              <a:path w="3286125" h="723900">
                <a:moveTo>
                  <a:pt x="38099" y="0"/>
                </a:moveTo>
                <a:lnTo>
                  <a:pt x="3248026" y="0"/>
                </a:lnTo>
                <a:cubicBezTo>
                  <a:pt x="3269053" y="0"/>
                  <a:pt x="3286125" y="17072"/>
                  <a:pt x="3286125" y="38099"/>
                </a:cubicBezTo>
                <a:lnTo>
                  <a:pt x="3286125" y="685801"/>
                </a:lnTo>
                <a:cubicBezTo>
                  <a:pt x="3286125" y="706828"/>
                  <a:pt x="3269053" y="723900"/>
                  <a:pt x="324802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68800" y="391477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Channels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68800" y="418147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WebSocket support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54500" y="4600575"/>
            <a:ext cx="3286125" cy="723900"/>
          </a:xfrm>
          <a:custGeom>
            <a:avLst/>
            <a:gdLst/>
            <a:ahLst/>
            <a:cxnLst/>
            <a:rect l="l" t="t" r="r" b="b"/>
            <a:pathLst>
              <a:path w="3286125" h="723900">
                <a:moveTo>
                  <a:pt x="38099" y="0"/>
                </a:moveTo>
                <a:lnTo>
                  <a:pt x="3248026" y="0"/>
                </a:lnTo>
                <a:cubicBezTo>
                  <a:pt x="3269053" y="0"/>
                  <a:pt x="3286125" y="17072"/>
                  <a:pt x="3286125" y="38099"/>
                </a:cubicBezTo>
                <a:lnTo>
                  <a:pt x="3286125" y="685801"/>
                </a:lnTo>
                <a:cubicBezTo>
                  <a:pt x="3286125" y="706828"/>
                  <a:pt x="3269053" y="723900"/>
                  <a:pt x="324802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68800" y="471487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68800" y="498157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connected users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2713" y="1452563"/>
            <a:ext cx="3676650" cy="3552825"/>
          </a:xfrm>
          <a:custGeom>
            <a:avLst/>
            <a:gdLst/>
            <a:ahLst/>
            <a:cxnLst/>
            <a:rect l="l" t="t" r="r" b="b"/>
            <a:pathLst>
              <a:path w="3676650" h="3552825">
                <a:moveTo>
                  <a:pt x="76208" y="0"/>
                </a:moveTo>
                <a:lnTo>
                  <a:pt x="3600442" y="0"/>
                </a:lnTo>
                <a:cubicBezTo>
                  <a:pt x="3642530" y="0"/>
                  <a:pt x="3676650" y="34120"/>
                  <a:pt x="3676650" y="76208"/>
                </a:cubicBezTo>
                <a:lnTo>
                  <a:pt x="3676650" y="3476617"/>
                </a:lnTo>
                <a:cubicBezTo>
                  <a:pt x="3676650" y="3518705"/>
                  <a:pt x="3642530" y="3552825"/>
                  <a:pt x="3600442" y="3552825"/>
                </a:cubicBezTo>
                <a:lnTo>
                  <a:pt x="76208" y="3552825"/>
                </a:lnTo>
                <a:cubicBezTo>
                  <a:pt x="34120" y="3552825"/>
                  <a:pt x="0" y="3518705"/>
                  <a:pt x="0" y="3476617"/>
                </a:cubicBezTo>
                <a:lnTo>
                  <a:pt x="0" y="76208"/>
                </a:lnTo>
                <a:cubicBezTo>
                  <a:pt x="0" y="34120"/>
                  <a:pt x="34120" y="0"/>
                  <a:pt x="76208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27975" y="164782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Tools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37500" y="21050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705" y="28902"/>
                </a:moveTo>
                <a:lnTo>
                  <a:pt x="66705" y="43666"/>
                </a:lnTo>
                <a:lnTo>
                  <a:pt x="66854" y="43815"/>
                </a:lnTo>
                <a:cubicBezTo>
                  <a:pt x="68788" y="19288"/>
                  <a:pt x="89297" y="0"/>
                  <a:pt x="114330" y="0"/>
                </a:cubicBezTo>
                <a:cubicBezTo>
                  <a:pt x="120313" y="0"/>
                  <a:pt x="126057" y="1101"/>
                  <a:pt x="131326" y="3125"/>
                </a:cubicBezTo>
                <a:cubicBezTo>
                  <a:pt x="134303" y="4256"/>
                  <a:pt x="134838" y="8037"/>
                  <a:pt x="132606" y="10299"/>
                </a:cubicBezTo>
                <a:lnTo>
                  <a:pt x="106204" y="36701"/>
                </a:lnTo>
                <a:cubicBezTo>
                  <a:pt x="105311" y="37594"/>
                  <a:pt x="104805" y="38814"/>
                  <a:pt x="104805" y="40065"/>
                </a:cubicBezTo>
                <a:lnTo>
                  <a:pt x="104805" y="52388"/>
                </a:lnTo>
                <a:cubicBezTo>
                  <a:pt x="104805" y="55007"/>
                  <a:pt x="106948" y="57150"/>
                  <a:pt x="109567" y="57150"/>
                </a:cubicBezTo>
                <a:lnTo>
                  <a:pt x="121890" y="57150"/>
                </a:lnTo>
                <a:cubicBezTo>
                  <a:pt x="123140" y="57150"/>
                  <a:pt x="124361" y="56644"/>
                  <a:pt x="125254" y="55751"/>
                </a:cubicBezTo>
                <a:lnTo>
                  <a:pt x="151656" y="29349"/>
                </a:lnTo>
                <a:cubicBezTo>
                  <a:pt x="153918" y="27087"/>
                  <a:pt x="157698" y="27652"/>
                  <a:pt x="158829" y="30629"/>
                </a:cubicBezTo>
                <a:cubicBezTo>
                  <a:pt x="160853" y="35897"/>
                  <a:pt x="161955" y="41642"/>
                  <a:pt x="161955" y="47625"/>
                </a:cubicBezTo>
                <a:cubicBezTo>
                  <a:pt x="161955" y="65663"/>
                  <a:pt x="151924" y="81379"/>
                  <a:pt x="137100" y="89446"/>
                </a:cubicBezTo>
                <a:lnTo>
                  <a:pt x="161359" y="113705"/>
                </a:lnTo>
                <a:cubicBezTo>
                  <a:pt x="166926" y="119271"/>
                  <a:pt x="166926" y="128320"/>
                  <a:pt x="161359" y="133916"/>
                </a:cubicBezTo>
                <a:lnTo>
                  <a:pt x="143470" y="151805"/>
                </a:lnTo>
                <a:cubicBezTo>
                  <a:pt x="137904" y="157371"/>
                  <a:pt x="128855" y="157371"/>
                  <a:pt x="123259" y="151805"/>
                </a:cubicBezTo>
                <a:lnTo>
                  <a:pt x="85755" y="114300"/>
                </a:lnTo>
                <a:cubicBezTo>
                  <a:pt x="77599" y="106144"/>
                  <a:pt x="75754" y="94089"/>
                  <a:pt x="80248" y="84147"/>
                </a:cubicBezTo>
                <a:lnTo>
                  <a:pt x="53251" y="57150"/>
                </a:lnTo>
                <a:lnTo>
                  <a:pt x="38487" y="57150"/>
                </a:lnTo>
                <a:cubicBezTo>
                  <a:pt x="35302" y="57150"/>
                  <a:pt x="32325" y="55572"/>
                  <a:pt x="30569" y="52923"/>
                </a:cubicBezTo>
                <a:lnTo>
                  <a:pt x="6965" y="17532"/>
                </a:lnTo>
                <a:cubicBezTo>
                  <a:pt x="5715" y="15657"/>
                  <a:pt x="5953" y="13127"/>
                  <a:pt x="7560" y="11519"/>
                </a:cubicBezTo>
                <a:lnTo>
                  <a:pt x="21074" y="-1994"/>
                </a:lnTo>
                <a:cubicBezTo>
                  <a:pt x="22681" y="-3602"/>
                  <a:pt x="25182" y="-3840"/>
                  <a:pt x="27087" y="-2590"/>
                </a:cubicBezTo>
                <a:lnTo>
                  <a:pt x="62478" y="20985"/>
                </a:lnTo>
                <a:cubicBezTo>
                  <a:pt x="65127" y="22741"/>
                  <a:pt x="66705" y="25718"/>
                  <a:pt x="66705" y="28902"/>
                </a:cubicBezTo>
                <a:close/>
                <a:moveTo>
                  <a:pt x="64175" y="88285"/>
                </a:moveTo>
                <a:cubicBezTo>
                  <a:pt x="62299" y="99298"/>
                  <a:pt x="64889" y="110936"/>
                  <a:pt x="72033" y="120253"/>
                </a:cubicBezTo>
                <a:lnTo>
                  <a:pt x="43755" y="148501"/>
                </a:lnTo>
                <a:cubicBezTo>
                  <a:pt x="35391" y="156865"/>
                  <a:pt x="21818" y="156865"/>
                  <a:pt x="13454" y="148501"/>
                </a:cubicBezTo>
                <a:cubicBezTo>
                  <a:pt x="5090" y="140137"/>
                  <a:pt x="5090" y="126563"/>
                  <a:pt x="13454" y="118199"/>
                </a:cubicBezTo>
                <a:lnTo>
                  <a:pt x="53757" y="77897"/>
                </a:lnTo>
                <a:lnTo>
                  <a:pt x="64175" y="8831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32775" y="206692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32775" y="229552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tool, dependency management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56550" y="2676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9954" y="38100"/>
                </a:moveTo>
                <a:lnTo>
                  <a:pt x="99745" y="23813"/>
                </a:lnTo>
                <a:lnTo>
                  <a:pt x="33635" y="23813"/>
                </a:lnTo>
                <a:lnTo>
                  <a:pt x="23426" y="38100"/>
                </a:lnTo>
                <a:lnTo>
                  <a:pt x="109954" y="38100"/>
                </a:lnTo>
                <a:close/>
                <a:moveTo>
                  <a:pt x="0" y="44202"/>
                </a:moveTo>
                <a:cubicBezTo>
                  <a:pt x="0" y="40243"/>
                  <a:pt x="1250" y="36374"/>
                  <a:pt x="3542" y="33129"/>
                </a:cubicBezTo>
                <a:lnTo>
                  <a:pt x="18127" y="12740"/>
                </a:lnTo>
                <a:cubicBezTo>
                  <a:pt x="21699" y="7739"/>
                  <a:pt x="27474" y="4763"/>
                  <a:pt x="33605" y="4763"/>
                </a:cubicBezTo>
                <a:lnTo>
                  <a:pt x="99715" y="4763"/>
                </a:lnTo>
                <a:cubicBezTo>
                  <a:pt x="105876" y="4763"/>
                  <a:pt x="111651" y="7739"/>
                  <a:pt x="115223" y="12740"/>
                </a:cubicBezTo>
                <a:lnTo>
                  <a:pt x="129778" y="33129"/>
                </a:lnTo>
                <a:cubicBezTo>
                  <a:pt x="132100" y="36374"/>
                  <a:pt x="133320" y="40243"/>
                  <a:pt x="133320" y="44202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44202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632775" y="2638425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Hex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32775" y="2867025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 manager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56550" y="32480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632775" y="3209925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Ecto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32775" y="3438525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layer, query builder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47025" y="3819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1977" y="2798"/>
                </a:moveTo>
                <a:cubicBezTo>
                  <a:pt x="98256" y="-923"/>
                  <a:pt x="92214" y="-923"/>
                  <a:pt x="88493" y="2798"/>
                </a:cubicBezTo>
                <a:cubicBezTo>
                  <a:pt x="84773" y="6519"/>
                  <a:pt x="84773" y="12561"/>
                  <a:pt x="88493" y="16282"/>
                </a:cubicBezTo>
                <a:lnTo>
                  <a:pt x="91291" y="19050"/>
                </a:lnTo>
                <a:lnTo>
                  <a:pt x="8364" y="101977"/>
                </a:lnTo>
                <a:cubicBezTo>
                  <a:pt x="3006" y="107335"/>
                  <a:pt x="0" y="114598"/>
                  <a:pt x="0" y="122188"/>
                </a:cubicBezTo>
                <a:lnTo>
                  <a:pt x="0" y="123825"/>
                </a:lnTo>
                <a:cubicBezTo>
                  <a:pt x="0" y="139601"/>
                  <a:pt x="12799" y="152400"/>
                  <a:pt x="28575" y="152400"/>
                </a:cubicBezTo>
                <a:lnTo>
                  <a:pt x="30212" y="152400"/>
                </a:lnTo>
                <a:cubicBezTo>
                  <a:pt x="37802" y="152400"/>
                  <a:pt x="45065" y="149394"/>
                  <a:pt x="50423" y="144036"/>
                </a:cubicBezTo>
                <a:lnTo>
                  <a:pt x="133350" y="61109"/>
                </a:lnTo>
                <a:lnTo>
                  <a:pt x="136148" y="63907"/>
                </a:lnTo>
                <a:cubicBezTo>
                  <a:pt x="139869" y="67627"/>
                  <a:pt x="145911" y="67627"/>
                  <a:pt x="149632" y="63907"/>
                </a:cubicBezTo>
                <a:cubicBezTo>
                  <a:pt x="153353" y="60186"/>
                  <a:pt x="153353" y="54144"/>
                  <a:pt x="149632" y="50423"/>
                </a:cubicBezTo>
                <a:lnTo>
                  <a:pt x="102007" y="2798"/>
                </a:lnTo>
                <a:close/>
                <a:moveTo>
                  <a:pt x="61109" y="76200"/>
                </a:moveTo>
                <a:lnTo>
                  <a:pt x="104775" y="32534"/>
                </a:lnTo>
                <a:lnTo>
                  <a:pt x="119866" y="47625"/>
                </a:lnTo>
                <a:lnTo>
                  <a:pt x="91291" y="76200"/>
                </a:lnTo>
                <a:lnTo>
                  <a:pt x="61079" y="7620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632775" y="3781425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ExUnit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32775" y="4010025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framework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56550" y="43910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632775" y="435292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ExDoc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32775" y="458152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 generation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90525" cy="266700"/>
          </a:xfrm>
          <a:custGeom>
            <a:avLst/>
            <a:gdLst/>
            <a:ahLst/>
            <a:cxnLst/>
            <a:rect l="l" t="t" r="r" b="b"/>
            <a:pathLst>
              <a:path w="390525" h="266700">
                <a:moveTo>
                  <a:pt x="38101" y="0"/>
                </a:moveTo>
                <a:lnTo>
                  <a:pt x="352424" y="0"/>
                </a:lnTo>
                <a:cubicBezTo>
                  <a:pt x="373467" y="0"/>
                  <a:pt x="390525" y="17058"/>
                  <a:pt x="390525" y="38101"/>
                </a:cubicBezTo>
                <a:lnTo>
                  <a:pt x="390525" y="228599"/>
                </a:lnTo>
                <a:cubicBezTo>
                  <a:pt x="390525" y="249642"/>
                  <a:pt x="373467" y="266700"/>
                  <a:pt x="3524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57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1807" y="40005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Language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1: Lightweight Concurrency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1000" y="14478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Actor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866900"/>
            <a:ext cx="5676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Elixir implements the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Actor model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concurrency. Each process is an independent actor that: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552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 its own isolated memory (no shared state)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857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819400"/>
            <a:ext cx="3724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Communicates only via asynchronous message passing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162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12420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scheduled preemptively by BEAM (no blocking)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548063"/>
            <a:ext cx="5591175" cy="2495550"/>
          </a:xfrm>
          <a:custGeom>
            <a:avLst/>
            <a:gdLst/>
            <a:ahLst/>
            <a:cxnLst/>
            <a:rect l="l" t="t" r="r" b="b"/>
            <a:pathLst>
              <a:path w="5591175" h="2495550">
                <a:moveTo>
                  <a:pt x="76189" y="0"/>
                </a:moveTo>
                <a:lnTo>
                  <a:pt x="5514986" y="0"/>
                </a:lnTo>
                <a:cubicBezTo>
                  <a:pt x="5557036" y="0"/>
                  <a:pt x="5591175" y="34139"/>
                  <a:pt x="5591175" y="76189"/>
                </a:cubicBezTo>
                <a:lnTo>
                  <a:pt x="5591175" y="2419361"/>
                </a:lnTo>
                <a:cubicBezTo>
                  <a:pt x="5591175" y="2461439"/>
                  <a:pt x="5557064" y="2495550"/>
                  <a:pt x="5514986" y="2495550"/>
                </a:cubicBezTo>
                <a:lnTo>
                  <a:pt x="76189" y="2495550"/>
                </a:lnTo>
                <a:cubicBezTo>
                  <a:pt x="34139" y="2495550"/>
                  <a:pt x="0" y="2461411"/>
                  <a:pt x="0" y="2419361"/>
                </a:cubicBezTo>
                <a:lnTo>
                  <a:pt x="0" y="76189"/>
                </a:lnTo>
                <a:cubicBezTo>
                  <a:pt x="0" y="34139"/>
                  <a:pt x="34139" y="0"/>
                  <a:pt x="76189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1025" y="3743325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Characteristics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5300" y="4162425"/>
            <a:ext cx="2695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2KB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2925" y="4619625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heap size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71825" y="4162425"/>
            <a:ext cx="2695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~1μs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19450" y="4619625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creation time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025" y="5005388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  <a:lnTo>
                  <a:pt x="52006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B9F8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5300" y="5162550"/>
            <a:ext cx="537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2925" y="561975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per machine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5063" y="1452563"/>
            <a:ext cx="5591175" cy="3143250"/>
          </a:xfrm>
          <a:custGeom>
            <a:avLst/>
            <a:gdLst/>
            <a:ahLst/>
            <a:cxnLst/>
            <a:rect l="l" t="t" r="r" b="b"/>
            <a:pathLst>
              <a:path w="5591175" h="3143250">
                <a:moveTo>
                  <a:pt x="76192" y="0"/>
                </a:moveTo>
                <a:lnTo>
                  <a:pt x="5514983" y="0"/>
                </a:lnTo>
                <a:cubicBezTo>
                  <a:pt x="5557063" y="0"/>
                  <a:pt x="5591175" y="34112"/>
                  <a:pt x="5591175" y="76192"/>
                </a:cubicBezTo>
                <a:lnTo>
                  <a:pt x="5591175" y="3067058"/>
                </a:lnTo>
                <a:cubicBezTo>
                  <a:pt x="5591175" y="3109138"/>
                  <a:pt x="5557063" y="3143250"/>
                  <a:pt x="5514983" y="3143250"/>
                </a:cubicBezTo>
                <a:lnTo>
                  <a:pt x="76192" y="3143250"/>
                </a:lnTo>
                <a:cubicBezTo>
                  <a:pt x="34112" y="3143250"/>
                  <a:pt x="0" y="3109138"/>
                  <a:pt x="0" y="306705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10325" y="1647825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Contrast with Traditional Threading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0325" y="2066925"/>
          <a:ext cx="5200650" cy="2333628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4B9F8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Aspect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OS Threads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E07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BEAM Processes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Memory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1-8 MB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~2 KB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Creation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~1-10 ms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 μs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Scheduling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OS preemptive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BEAM preemptive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Communication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Shared memory (locks)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Message passing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Max per node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Thousands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Millions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6215063" y="4795838"/>
            <a:ext cx="5591175" cy="1514475"/>
          </a:xfrm>
          <a:custGeom>
            <a:avLst/>
            <a:gdLst/>
            <a:ahLst/>
            <a:cxnLst/>
            <a:rect l="l" t="t" r="r" b="b"/>
            <a:pathLst>
              <a:path w="5591175" h="1514475">
                <a:moveTo>
                  <a:pt x="76193" y="0"/>
                </a:moveTo>
                <a:lnTo>
                  <a:pt x="5514982" y="0"/>
                </a:lnTo>
                <a:cubicBezTo>
                  <a:pt x="5557062" y="0"/>
                  <a:pt x="5591175" y="34113"/>
                  <a:pt x="5591175" y="76193"/>
                </a:cubicBezTo>
                <a:lnTo>
                  <a:pt x="5591175" y="1438282"/>
                </a:lnTo>
                <a:cubicBezTo>
                  <a:pt x="5591175" y="1480362"/>
                  <a:pt x="5557062" y="1514475"/>
                  <a:pt x="5514982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10325" y="49911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10325" y="5372100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threading requires complex locking mechanisms to prevent race conditions. In Elixir,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isolation + immutability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eliminates an entire class of concurrency bugs. You can write concurrent code as if it were sequential.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90525" cy="266700"/>
          </a:xfrm>
          <a:custGeom>
            <a:avLst/>
            <a:gdLst/>
            <a:ahLst/>
            <a:cxnLst/>
            <a:rect l="l" t="t" r="r" b="b"/>
            <a:pathLst>
              <a:path w="390525" h="266700">
                <a:moveTo>
                  <a:pt x="38101" y="0"/>
                </a:moveTo>
                <a:lnTo>
                  <a:pt x="352424" y="0"/>
                </a:lnTo>
                <a:cubicBezTo>
                  <a:pt x="373467" y="0"/>
                  <a:pt x="390525" y="17058"/>
                  <a:pt x="390525" y="38101"/>
                </a:cubicBezTo>
                <a:lnTo>
                  <a:pt x="390525" y="228599"/>
                </a:lnTo>
                <a:cubicBezTo>
                  <a:pt x="390525" y="249642"/>
                  <a:pt x="373467" y="266700"/>
                  <a:pt x="3524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57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1807" y="40005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Language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2: Fault Tolerance &amp; Supervision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1000" y="1447800"/>
            <a:ext cx="6877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"Let It Crash" Philosophy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866900"/>
            <a:ext cx="6838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Instead of defensive programming with try-catch blocks everywhere, Elixir embraces failure. When a process encounters an error, it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crashes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its supervisor restarts it in a known good state.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519363"/>
            <a:ext cx="6753225" cy="885825"/>
          </a:xfrm>
          <a:custGeom>
            <a:avLst/>
            <a:gdLst/>
            <a:ahLst/>
            <a:cxnLst/>
            <a:rect l="l" t="t" r="r" b="b"/>
            <a:pathLst>
              <a:path w="6753225" h="885825">
                <a:moveTo>
                  <a:pt x="76199" y="0"/>
                </a:moveTo>
                <a:lnTo>
                  <a:pt x="6677026" y="0"/>
                </a:lnTo>
                <a:cubicBezTo>
                  <a:pt x="6719110" y="0"/>
                  <a:pt x="6753225" y="34115"/>
                  <a:pt x="6753225" y="76199"/>
                </a:cubicBezTo>
                <a:lnTo>
                  <a:pt x="6753225" y="809626"/>
                </a:lnTo>
                <a:cubicBezTo>
                  <a:pt x="6753225" y="851710"/>
                  <a:pt x="6719110" y="885825"/>
                  <a:pt x="667702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2925" y="2705100"/>
            <a:ext cx="97236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2981325"/>
            <a:ext cx="652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"Fail fast, recover quickly, contain the damage"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1000" y="3600450"/>
            <a:ext cx="6877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Supervision Trees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1000" y="4019550"/>
            <a:ext cx="6838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hierarchical structure where supervisors monitor child processes. If a child fails, the supervisor takes corrective action based on configured strategies.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4672013"/>
            <a:ext cx="3314700" cy="733425"/>
          </a:xfrm>
          <a:custGeom>
            <a:avLst/>
            <a:gdLst/>
            <a:ahLst/>
            <a:cxnLst/>
            <a:rect l="l" t="t" r="r" b="b"/>
            <a:pathLst>
              <a:path w="3314700" h="733425">
                <a:moveTo>
                  <a:pt x="38101" y="0"/>
                </a:moveTo>
                <a:lnTo>
                  <a:pt x="3276599" y="0"/>
                </a:lnTo>
                <a:cubicBezTo>
                  <a:pt x="3297627" y="0"/>
                  <a:pt x="3314700" y="17073"/>
                  <a:pt x="3314700" y="38101"/>
                </a:cubicBezTo>
                <a:lnTo>
                  <a:pt x="3314700" y="695324"/>
                </a:lnTo>
                <a:cubicBezTo>
                  <a:pt x="3314700" y="716352"/>
                  <a:pt x="3297627" y="733425"/>
                  <a:pt x="3276599" y="733425"/>
                </a:cubicBezTo>
                <a:lnTo>
                  <a:pt x="38101" y="733425"/>
                </a:lnTo>
                <a:cubicBezTo>
                  <a:pt x="17073" y="733425"/>
                  <a:pt x="0" y="716352"/>
                  <a:pt x="0" y="69532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4825" y="4791075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One-for-One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4825" y="5057775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Restart only the failing child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26148" y="4672013"/>
            <a:ext cx="3314700" cy="733425"/>
          </a:xfrm>
          <a:custGeom>
            <a:avLst/>
            <a:gdLst/>
            <a:ahLst/>
            <a:cxnLst/>
            <a:rect l="l" t="t" r="r" b="b"/>
            <a:pathLst>
              <a:path w="3314700" h="733425">
                <a:moveTo>
                  <a:pt x="38101" y="0"/>
                </a:moveTo>
                <a:lnTo>
                  <a:pt x="3276599" y="0"/>
                </a:lnTo>
                <a:cubicBezTo>
                  <a:pt x="3297627" y="0"/>
                  <a:pt x="3314700" y="17073"/>
                  <a:pt x="3314700" y="38101"/>
                </a:cubicBezTo>
                <a:lnTo>
                  <a:pt x="3314700" y="695324"/>
                </a:lnTo>
                <a:cubicBezTo>
                  <a:pt x="3314700" y="716352"/>
                  <a:pt x="3297627" y="733425"/>
                  <a:pt x="3276599" y="733425"/>
                </a:cubicBezTo>
                <a:lnTo>
                  <a:pt x="38101" y="733425"/>
                </a:lnTo>
                <a:cubicBezTo>
                  <a:pt x="17073" y="733425"/>
                  <a:pt x="0" y="716352"/>
                  <a:pt x="0" y="69532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45210" y="4791075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C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One-for-All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45210" y="5057775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Restart all children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5529263"/>
            <a:ext cx="3314700" cy="733425"/>
          </a:xfrm>
          <a:custGeom>
            <a:avLst/>
            <a:gdLst/>
            <a:ahLst/>
            <a:cxnLst/>
            <a:rect l="l" t="t" r="r" b="b"/>
            <a:pathLst>
              <a:path w="3314700" h="733425">
                <a:moveTo>
                  <a:pt x="38101" y="0"/>
                </a:moveTo>
                <a:lnTo>
                  <a:pt x="3276599" y="0"/>
                </a:lnTo>
                <a:cubicBezTo>
                  <a:pt x="3297627" y="0"/>
                  <a:pt x="3314700" y="17073"/>
                  <a:pt x="3314700" y="38101"/>
                </a:cubicBezTo>
                <a:lnTo>
                  <a:pt x="3314700" y="695324"/>
                </a:lnTo>
                <a:cubicBezTo>
                  <a:pt x="3314700" y="716352"/>
                  <a:pt x="3297627" y="733425"/>
                  <a:pt x="3276599" y="733425"/>
                </a:cubicBezTo>
                <a:lnTo>
                  <a:pt x="38101" y="733425"/>
                </a:lnTo>
                <a:cubicBezTo>
                  <a:pt x="17073" y="733425"/>
                  <a:pt x="0" y="716352"/>
                  <a:pt x="0" y="69532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825" y="5648325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Rest-for-One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4825" y="5915025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Restart failing + subsequent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26148" y="5529263"/>
            <a:ext cx="3314700" cy="733425"/>
          </a:xfrm>
          <a:custGeom>
            <a:avLst/>
            <a:gdLst/>
            <a:ahLst/>
            <a:cxnLst/>
            <a:rect l="l" t="t" r="r" b="b"/>
            <a:pathLst>
              <a:path w="3314700" h="733425">
                <a:moveTo>
                  <a:pt x="38101" y="0"/>
                </a:moveTo>
                <a:lnTo>
                  <a:pt x="3276599" y="0"/>
                </a:lnTo>
                <a:cubicBezTo>
                  <a:pt x="3297627" y="0"/>
                  <a:pt x="3314700" y="17073"/>
                  <a:pt x="3314700" y="38101"/>
                </a:cubicBezTo>
                <a:lnTo>
                  <a:pt x="3314700" y="695324"/>
                </a:lnTo>
                <a:cubicBezTo>
                  <a:pt x="3314700" y="716352"/>
                  <a:pt x="3297627" y="733425"/>
                  <a:pt x="3276599" y="733425"/>
                </a:cubicBezTo>
                <a:lnTo>
                  <a:pt x="38101" y="733425"/>
                </a:lnTo>
                <a:cubicBezTo>
                  <a:pt x="17073" y="733425"/>
                  <a:pt x="0" y="716352"/>
                  <a:pt x="0" y="69532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45210" y="5648325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Simple-One-for-One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45210" y="5915025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children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80908" y="1452563"/>
            <a:ext cx="4429125" cy="2981325"/>
          </a:xfrm>
          <a:custGeom>
            <a:avLst/>
            <a:gdLst/>
            <a:ahLst/>
            <a:cxnLst/>
            <a:rect l="l" t="t" r="r" b="b"/>
            <a:pathLst>
              <a:path w="4429125" h="2981325">
                <a:moveTo>
                  <a:pt x="76203" y="0"/>
                </a:moveTo>
                <a:lnTo>
                  <a:pt x="4352922" y="0"/>
                </a:lnTo>
                <a:cubicBezTo>
                  <a:pt x="4395008" y="0"/>
                  <a:pt x="4429125" y="34117"/>
                  <a:pt x="4429125" y="76203"/>
                </a:cubicBezTo>
                <a:lnTo>
                  <a:pt x="4429125" y="2905122"/>
                </a:lnTo>
                <a:cubicBezTo>
                  <a:pt x="4429125" y="2947208"/>
                  <a:pt x="4395008" y="2981325"/>
                  <a:pt x="4352922" y="2981325"/>
                </a:cubicBezTo>
                <a:lnTo>
                  <a:pt x="76203" y="2981325"/>
                </a:lnTo>
                <a:cubicBezTo>
                  <a:pt x="34117" y="2981325"/>
                  <a:pt x="0" y="2947208"/>
                  <a:pt x="0" y="29051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76170" y="1647825"/>
            <a:ext cx="413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Supervision Tree Structure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76170" y="2066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09520" y="2200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147670" y="2066925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Supervisor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47670" y="2295525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Top-level monitoring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04770" y="2676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928595" y="27908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00070" y="2638425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Worker Process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00070" y="2867025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logic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804770" y="3248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928595" y="3362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00070" y="3209925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Worker Process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00070" y="3438525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logic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804770" y="3819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919070" y="3933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00070" y="3781425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Child Supervisor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00070" y="4010025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Nested supervision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80908" y="4595813"/>
            <a:ext cx="4429125" cy="1685925"/>
          </a:xfrm>
          <a:custGeom>
            <a:avLst/>
            <a:gdLst/>
            <a:ahLst/>
            <a:cxnLst/>
            <a:rect l="l" t="t" r="r" b="b"/>
            <a:pathLst>
              <a:path w="4429125" h="1685925">
                <a:moveTo>
                  <a:pt x="76204" y="0"/>
                </a:moveTo>
                <a:lnTo>
                  <a:pt x="4352921" y="0"/>
                </a:lnTo>
                <a:cubicBezTo>
                  <a:pt x="4395007" y="0"/>
                  <a:pt x="4429125" y="34118"/>
                  <a:pt x="4429125" y="76204"/>
                </a:cubicBezTo>
                <a:lnTo>
                  <a:pt x="4429125" y="1609721"/>
                </a:lnTo>
                <a:cubicBezTo>
                  <a:pt x="4429125" y="1651807"/>
                  <a:pt x="4395007" y="1685925"/>
                  <a:pt x="4352921" y="1685925"/>
                </a:cubicBezTo>
                <a:lnTo>
                  <a:pt x="76204" y="1685925"/>
                </a:lnTo>
                <a:cubicBezTo>
                  <a:pt x="34118" y="1685925"/>
                  <a:pt x="0" y="1651807"/>
                  <a:pt x="0" y="1609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538070" y="4752975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Self-Healing Systems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38070" y="5133975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Supervision trees enable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self-healing systems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Instead of cascading failures, errors are contained and recovered automatically. This is how Erlang systems achieve 99.999% uptime.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90525" cy="266700"/>
          </a:xfrm>
          <a:custGeom>
            <a:avLst/>
            <a:gdLst/>
            <a:ahLst/>
            <a:cxnLst/>
            <a:rect l="l" t="t" r="r" b="b"/>
            <a:pathLst>
              <a:path w="390525" h="266700">
                <a:moveTo>
                  <a:pt x="38101" y="0"/>
                </a:moveTo>
                <a:lnTo>
                  <a:pt x="352424" y="0"/>
                </a:lnTo>
                <a:cubicBezTo>
                  <a:pt x="373467" y="0"/>
                  <a:pt x="390525" y="17058"/>
                  <a:pt x="390525" y="38101"/>
                </a:cubicBezTo>
                <a:lnTo>
                  <a:pt x="390525" y="228599"/>
                </a:lnTo>
                <a:cubicBezTo>
                  <a:pt x="390525" y="249642"/>
                  <a:pt x="373467" y="266700"/>
                  <a:pt x="3524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57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1807" y="40005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Language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3: Immutable Data &amp; Functional Model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1000" y="14478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Immutability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866900"/>
            <a:ext cx="5676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Elixir,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cannot be changed after creation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When you "modify" a data structure, you create a new one. The original remains unchanged.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519363"/>
            <a:ext cx="5591175" cy="1533525"/>
          </a:xfrm>
          <a:custGeom>
            <a:avLst/>
            <a:gdLst/>
            <a:ahLst/>
            <a:cxnLst/>
            <a:rect l="l" t="t" r="r" b="b"/>
            <a:pathLst>
              <a:path w="5591175" h="1533525">
                <a:moveTo>
                  <a:pt x="76201" y="0"/>
                </a:moveTo>
                <a:lnTo>
                  <a:pt x="5514974" y="0"/>
                </a:lnTo>
                <a:cubicBezTo>
                  <a:pt x="5557031" y="0"/>
                  <a:pt x="5591175" y="34144"/>
                  <a:pt x="5591175" y="76201"/>
                </a:cubicBezTo>
                <a:lnTo>
                  <a:pt x="5591175" y="1457324"/>
                </a:lnTo>
                <a:cubicBezTo>
                  <a:pt x="5591175" y="1499381"/>
                  <a:pt x="5557031" y="1533525"/>
                  <a:pt x="5514974" y="1533525"/>
                </a:cubicBezTo>
                <a:lnTo>
                  <a:pt x="76201" y="1533525"/>
                </a:lnTo>
                <a:cubicBezTo>
                  <a:pt x="34144" y="1533525"/>
                  <a:pt x="0" y="1499381"/>
                  <a:pt x="0" y="14573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2925" y="2676525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Original list unchanged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2905125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original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[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2925" y="3133725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[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original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925" y="3438525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original: [1, 2, 3]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925" y="3667125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new: [0, 1, 2, 3]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252913"/>
            <a:ext cx="5591175" cy="1609725"/>
          </a:xfrm>
          <a:custGeom>
            <a:avLst/>
            <a:gdLst/>
            <a:ahLst/>
            <a:cxnLst/>
            <a:rect l="l" t="t" r="r" b="b"/>
            <a:pathLst>
              <a:path w="5591175" h="1609725">
                <a:moveTo>
                  <a:pt x="76204" y="0"/>
                </a:moveTo>
                <a:lnTo>
                  <a:pt x="5514971" y="0"/>
                </a:lnTo>
                <a:cubicBezTo>
                  <a:pt x="5557057" y="0"/>
                  <a:pt x="5591175" y="34118"/>
                  <a:pt x="5591175" y="76204"/>
                </a:cubicBezTo>
                <a:lnTo>
                  <a:pt x="5591175" y="1533521"/>
                </a:lnTo>
                <a:cubicBezTo>
                  <a:pt x="5591175" y="1575607"/>
                  <a:pt x="5557057" y="1609725"/>
                  <a:pt x="5514971" y="1609725"/>
                </a:cubicBezTo>
                <a:lnTo>
                  <a:pt x="76204" y="1609725"/>
                </a:lnTo>
                <a:cubicBezTo>
                  <a:pt x="34118" y="1609725"/>
                  <a:pt x="0" y="1575607"/>
                  <a:pt x="0" y="15335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1025" y="4448175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Immutability Matters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0075" y="4867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5825" y="4829175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race conditions: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can't change unexpectedly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0075" y="5172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85825" y="5133975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Predictable code: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Same input = same output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0075" y="5476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85825" y="543877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reasoning: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hidden state changes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0300" y="14478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Matching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0300" y="1866900"/>
            <a:ext cx="56769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200" dirty="0">
                <a:solidFill>
                  <a:srgbClr val="4B9F8E"/>
                </a:solidFill>
                <a:highlight>
                  <a:srgbClr val="5C677D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=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operator is the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operator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assignment. It matches the left side against the right, binding variables to values.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5063" y="2528888"/>
            <a:ext cx="5591175" cy="1762125"/>
          </a:xfrm>
          <a:custGeom>
            <a:avLst/>
            <a:gdLst/>
            <a:ahLst/>
            <a:cxnLst/>
            <a:rect l="l" t="t" r="r" b="b"/>
            <a:pathLst>
              <a:path w="5591175" h="1762125">
                <a:moveTo>
                  <a:pt x="76194" y="0"/>
                </a:moveTo>
                <a:lnTo>
                  <a:pt x="5514981" y="0"/>
                </a:lnTo>
                <a:cubicBezTo>
                  <a:pt x="5557033" y="0"/>
                  <a:pt x="5591175" y="34142"/>
                  <a:pt x="5591175" y="76194"/>
                </a:cubicBezTo>
                <a:lnTo>
                  <a:pt x="5591175" y="1685931"/>
                </a:lnTo>
                <a:cubicBezTo>
                  <a:pt x="5591175" y="1728012"/>
                  <a:pt x="5557062" y="1762125"/>
                  <a:pt x="5514981" y="1762125"/>
                </a:cubicBezTo>
                <a:lnTo>
                  <a:pt x="76194" y="1762125"/>
                </a:lnTo>
                <a:cubicBezTo>
                  <a:pt x="34142" y="1762125"/>
                  <a:pt x="0" y="1727983"/>
                  <a:pt x="0" y="168593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72225" y="2686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Destructuring a tuple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2225" y="29146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 = {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72225" y="31432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x = 1, y = 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72225" y="3448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Pattern matching in function heads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72225" y="36766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area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({: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circle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3.14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*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*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72225" y="39052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area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({: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rect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*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5063" y="4491038"/>
            <a:ext cx="5591175" cy="2324100"/>
          </a:xfrm>
          <a:custGeom>
            <a:avLst/>
            <a:gdLst/>
            <a:ahLst/>
            <a:cxnLst/>
            <a:rect l="l" t="t" r="r" b="b"/>
            <a:pathLst>
              <a:path w="5591175" h="2324100">
                <a:moveTo>
                  <a:pt x="76207" y="0"/>
                </a:moveTo>
                <a:lnTo>
                  <a:pt x="5514968" y="0"/>
                </a:lnTo>
                <a:cubicBezTo>
                  <a:pt x="5557056" y="0"/>
                  <a:pt x="5591175" y="34119"/>
                  <a:pt x="5591175" y="76207"/>
                </a:cubicBezTo>
                <a:lnTo>
                  <a:pt x="5591175" y="2247893"/>
                </a:lnTo>
                <a:cubicBezTo>
                  <a:pt x="5591175" y="2289981"/>
                  <a:pt x="5557056" y="2324100"/>
                  <a:pt x="5514968" y="2324100"/>
                </a:cubicBezTo>
                <a:lnTo>
                  <a:pt x="76207" y="2324100"/>
                </a:lnTo>
                <a:cubicBezTo>
                  <a:pt x="34119" y="2324100"/>
                  <a:pt x="0" y="2289981"/>
                  <a:pt x="0" y="2247893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10325" y="46863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Contrast with OOP</a:t>
            </a:r>
            <a:endParaRPr lang="en-US" sz="1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0325" y="5067300"/>
          <a:ext cx="5200650" cy="1552576"/>
        </p:xfrm>
        <a:graphic>
          <a:graphicData uri="http://schemas.openxmlformats.org/drawingml/2006/table">
            <a:tbl>
              <a:tblPr/>
              <a:tblGrid>
                <a:gridCol w="1116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144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4B9F8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Aspect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OOP (Java/Python)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E07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Elixir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Mutable objects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Immutable 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Behavior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Methods on objects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Functions transform 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Control Flow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If/else, loops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Pattern matching, recursion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90525" cy="266700"/>
          </a:xfrm>
          <a:custGeom>
            <a:avLst/>
            <a:gdLst/>
            <a:ahLst/>
            <a:cxnLst/>
            <a:rect l="l" t="t" r="r" b="b"/>
            <a:pathLst>
              <a:path w="390525" h="266700">
                <a:moveTo>
                  <a:pt x="38101" y="0"/>
                </a:moveTo>
                <a:lnTo>
                  <a:pt x="352424" y="0"/>
                </a:lnTo>
                <a:cubicBezTo>
                  <a:pt x="373467" y="0"/>
                  <a:pt x="390525" y="17058"/>
                  <a:pt x="390525" y="38101"/>
                </a:cubicBezTo>
                <a:lnTo>
                  <a:pt x="390525" y="228599"/>
                </a:lnTo>
                <a:cubicBezTo>
                  <a:pt x="390525" y="249642"/>
                  <a:pt x="373467" y="266700"/>
                  <a:pt x="3524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57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1807" y="40005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Language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4: Distributed Systems Support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1000" y="1447800"/>
            <a:ext cx="6877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Distribution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866900"/>
            <a:ext cx="6838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Elixir provides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 distribution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a core language feature. Processes can communicate across nodes (machines) as easily as within a single node.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519363"/>
            <a:ext cx="6753225" cy="1076325"/>
          </a:xfrm>
          <a:custGeom>
            <a:avLst/>
            <a:gdLst/>
            <a:ahLst/>
            <a:cxnLst/>
            <a:rect l="l" t="t" r="r" b="b"/>
            <a:pathLst>
              <a:path w="6753225" h="1076325">
                <a:moveTo>
                  <a:pt x="76204" y="0"/>
                </a:moveTo>
                <a:lnTo>
                  <a:pt x="6677021" y="0"/>
                </a:lnTo>
                <a:cubicBezTo>
                  <a:pt x="6719107" y="0"/>
                  <a:pt x="6753225" y="34118"/>
                  <a:pt x="6753225" y="76204"/>
                </a:cubicBezTo>
                <a:lnTo>
                  <a:pt x="6753225" y="1000121"/>
                </a:lnTo>
                <a:cubicBezTo>
                  <a:pt x="6753225" y="1042207"/>
                  <a:pt x="6719107" y="1076325"/>
                  <a:pt x="667702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2925" y="2676525"/>
            <a:ext cx="651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Send message to process on another node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2905125"/>
            <a:ext cx="651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send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({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:worker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:"node@192.168.1.100"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:ping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2925" y="3209925"/>
            <a:ext cx="651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Syntax is identical to local message passing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1000" y="3790950"/>
            <a:ext cx="6877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Capabilities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4214813"/>
            <a:ext cx="3295650" cy="1114425"/>
          </a:xfrm>
          <a:custGeom>
            <a:avLst/>
            <a:gdLst/>
            <a:ahLst/>
            <a:cxnLst/>
            <a:rect l="l" t="t" r="r" b="b"/>
            <a:pathLst>
              <a:path w="3295650" h="1114425">
                <a:moveTo>
                  <a:pt x="76204" y="0"/>
                </a:moveTo>
                <a:lnTo>
                  <a:pt x="3219446" y="0"/>
                </a:lnTo>
                <a:cubicBezTo>
                  <a:pt x="3261532" y="0"/>
                  <a:pt x="3295650" y="34118"/>
                  <a:pt x="3295650" y="76204"/>
                </a:cubicBezTo>
                <a:lnTo>
                  <a:pt x="3295650" y="1038221"/>
                </a:lnTo>
                <a:cubicBezTo>
                  <a:pt x="3295650" y="1080307"/>
                  <a:pt x="3261532" y="1114425"/>
                  <a:pt x="3219446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1500" y="44291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-9525"/>
                </a:moveTo>
                <a:cubicBezTo>
                  <a:pt x="43369" y="-9525"/>
                  <a:pt x="47625" y="-5269"/>
                  <a:pt x="47625" y="0"/>
                </a:cubicBezTo>
                <a:lnTo>
                  <a:pt x="47625" y="28575"/>
                </a:lnTo>
                <a:lnTo>
                  <a:pt x="85725" y="28575"/>
                </a:lnTo>
                <a:lnTo>
                  <a:pt x="85725" y="0"/>
                </a:lnTo>
                <a:cubicBezTo>
                  <a:pt x="85725" y="-5269"/>
                  <a:pt x="89981" y="-9525"/>
                  <a:pt x="95250" y="-9525"/>
                </a:cubicBezTo>
                <a:cubicBezTo>
                  <a:pt x="100519" y="-9525"/>
                  <a:pt x="104775" y="-5269"/>
                  <a:pt x="104775" y="0"/>
                </a:cubicBezTo>
                <a:lnTo>
                  <a:pt x="104775" y="28575"/>
                </a:ln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cubicBezTo>
                  <a:pt x="133350" y="43369"/>
                  <a:pt x="129094" y="47625"/>
                  <a:pt x="123825" y="47625"/>
                </a:cubicBezTo>
                <a:lnTo>
                  <a:pt x="123825" y="66675"/>
                </a:lnTo>
                <a:cubicBezTo>
                  <a:pt x="123825" y="94982"/>
                  <a:pt x="103227" y="118497"/>
                  <a:pt x="76200" y="123021"/>
                </a:cubicBezTo>
                <a:lnTo>
                  <a:pt x="76200" y="142875"/>
                </a:lnTo>
                <a:cubicBezTo>
                  <a:pt x="76200" y="148144"/>
                  <a:pt x="71944" y="152400"/>
                  <a:pt x="66675" y="152400"/>
                </a:cubicBezTo>
                <a:cubicBezTo>
                  <a:pt x="61406" y="152400"/>
                  <a:pt x="57150" y="148144"/>
                  <a:pt x="57150" y="142875"/>
                </a:cubicBezTo>
                <a:lnTo>
                  <a:pt x="57150" y="123021"/>
                </a:lnTo>
                <a:cubicBezTo>
                  <a:pt x="30123" y="118497"/>
                  <a:pt x="9525" y="94982"/>
                  <a:pt x="9525" y="6667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lnTo>
                  <a:pt x="28575" y="0"/>
                </a:lnTo>
                <a:cubicBezTo>
                  <a:pt x="28575" y="-5269"/>
                  <a:pt x="32831" y="-9525"/>
                  <a:pt x="38100" y="-9525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9625" y="437197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 Discovery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2925" y="4714875"/>
            <a:ext cx="3057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node discovery and connection in a cluster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5198" y="4214813"/>
            <a:ext cx="3295650" cy="1114425"/>
          </a:xfrm>
          <a:custGeom>
            <a:avLst/>
            <a:gdLst/>
            <a:ahLst/>
            <a:cxnLst/>
            <a:rect l="l" t="t" r="r" b="b"/>
            <a:pathLst>
              <a:path w="3295650" h="1114425">
                <a:moveTo>
                  <a:pt x="76204" y="0"/>
                </a:moveTo>
                <a:lnTo>
                  <a:pt x="3219446" y="0"/>
                </a:lnTo>
                <a:cubicBezTo>
                  <a:pt x="3261532" y="0"/>
                  <a:pt x="3295650" y="34118"/>
                  <a:pt x="3295650" y="76204"/>
                </a:cubicBezTo>
                <a:lnTo>
                  <a:pt x="3295650" y="1038221"/>
                </a:lnTo>
                <a:cubicBezTo>
                  <a:pt x="3295650" y="1080307"/>
                  <a:pt x="3261532" y="1114425"/>
                  <a:pt x="3219446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21410" y="4429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69060" y="437197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Calls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02360" y="4714875"/>
            <a:ext cx="3057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 functions on remote nodes transparently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5763" y="5491163"/>
            <a:ext cx="3295650" cy="885825"/>
          </a:xfrm>
          <a:custGeom>
            <a:avLst/>
            <a:gdLst/>
            <a:ahLst/>
            <a:cxnLst/>
            <a:rect l="l" t="t" r="r" b="b"/>
            <a:pathLst>
              <a:path w="3295650" h="885825">
                <a:moveTo>
                  <a:pt x="76199" y="0"/>
                </a:moveTo>
                <a:lnTo>
                  <a:pt x="3219451" y="0"/>
                </a:lnTo>
                <a:cubicBezTo>
                  <a:pt x="3261535" y="0"/>
                  <a:pt x="3295650" y="34115"/>
                  <a:pt x="3295650" y="76199"/>
                </a:cubicBezTo>
                <a:lnTo>
                  <a:pt x="3295650" y="809626"/>
                </a:lnTo>
                <a:cubicBezTo>
                  <a:pt x="3295650" y="851710"/>
                  <a:pt x="3261535" y="885825"/>
                  <a:pt x="32194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2450" y="57054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6164" y="3423"/>
                </a:moveTo>
                <a:cubicBezTo>
                  <a:pt x="22800" y="1369"/>
                  <a:pt x="18395" y="2471"/>
                  <a:pt x="16341" y="5834"/>
                </a:cubicBezTo>
                <a:cubicBezTo>
                  <a:pt x="8959" y="18038"/>
                  <a:pt x="4733" y="32355"/>
                  <a:pt x="4733" y="47625"/>
                </a:cubicBezTo>
                <a:cubicBezTo>
                  <a:pt x="4733" y="62895"/>
                  <a:pt x="8959" y="77212"/>
                  <a:pt x="16341" y="89416"/>
                </a:cubicBezTo>
                <a:cubicBezTo>
                  <a:pt x="18395" y="92779"/>
                  <a:pt x="22771" y="93881"/>
                  <a:pt x="26164" y="91827"/>
                </a:cubicBezTo>
                <a:cubicBezTo>
                  <a:pt x="29557" y="89773"/>
                  <a:pt x="30629" y="85398"/>
                  <a:pt x="28575" y="82004"/>
                </a:cubicBezTo>
                <a:cubicBezTo>
                  <a:pt x="22533" y="72003"/>
                  <a:pt x="19050" y="60216"/>
                  <a:pt x="19050" y="47625"/>
                </a:cubicBezTo>
                <a:cubicBezTo>
                  <a:pt x="19050" y="35034"/>
                  <a:pt x="22533" y="23247"/>
                  <a:pt x="28605" y="13216"/>
                </a:cubicBezTo>
                <a:cubicBezTo>
                  <a:pt x="30659" y="9852"/>
                  <a:pt x="29557" y="5447"/>
                  <a:pt x="26194" y="3393"/>
                </a:cubicBezTo>
                <a:close/>
                <a:moveTo>
                  <a:pt x="145256" y="3423"/>
                </a:moveTo>
                <a:cubicBezTo>
                  <a:pt x="141893" y="5477"/>
                  <a:pt x="140791" y="9852"/>
                  <a:pt x="142845" y="13246"/>
                </a:cubicBezTo>
                <a:cubicBezTo>
                  <a:pt x="148917" y="23277"/>
                  <a:pt x="152400" y="35064"/>
                  <a:pt x="152400" y="47655"/>
                </a:cubicBezTo>
                <a:cubicBezTo>
                  <a:pt x="152400" y="60246"/>
                  <a:pt x="148917" y="72033"/>
                  <a:pt x="142845" y="82064"/>
                </a:cubicBezTo>
                <a:cubicBezTo>
                  <a:pt x="140791" y="85427"/>
                  <a:pt x="141893" y="89833"/>
                  <a:pt x="145256" y="91886"/>
                </a:cubicBezTo>
                <a:cubicBezTo>
                  <a:pt x="148620" y="93940"/>
                  <a:pt x="153025" y="92839"/>
                  <a:pt x="155079" y="89475"/>
                </a:cubicBezTo>
                <a:cubicBezTo>
                  <a:pt x="162461" y="77272"/>
                  <a:pt x="166688" y="62954"/>
                  <a:pt x="166688" y="47685"/>
                </a:cubicBezTo>
                <a:cubicBezTo>
                  <a:pt x="166688" y="32415"/>
                  <a:pt x="162461" y="18038"/>
                  <a:pt x="155079" y="5834"/>
                </a:cubicBezTo>
                <a:cubicBezTo>
                  <a:pt x="153025" y="2471"/>
                  <a:pt x="148650" y="1369"/>
                  <a:pt x="145256" y="3423"/>
                </a:cubicBezTo>
                <a:close/>
                <a:moveTo>
                  <a:pt x="95250" y="64115"/>
                </a:moveTo>
                <a:cubicBezTo>
                  <a:pt x="100935" y="60811"/>
                  <a:pt x="104775" y="54679"/>
                  <a:pt x="104775" y="47625"/>
                </a:cubicBezTo>
                <a:cubicBezTo>
                  <a:pt x="104775" y="37118"/>
                  <a:pt x="96232" y="28575"/>
                  <a:pt x="85725" y="28575"/>
                </a:cubicBezTo>
                <a:cubicBezTo>
                  <a:pt x="75218" y="28575"/>
                  <a:pt x="66675" y="37118"/>
                  <a:pt x="66675" y="47625"/>
                </a:cubicBezTo>
                <a:cubicBezTo>
                  <a:pt x="66675" y="54679"/>
                  <a:pt x="70515" y="60841"/>
                  <a:pt x="76200" y="64115"/>
                </a:cubicBezTo>
                <a:lnTo>
                  <a:pt x="76200" y="142875"/>
                </a:lnTo>
                <a:cubicBezTo>
                  <a:pt x="76200" y="148144"/>
                  <a:pt x="80456" y="152400"/>
                  <a:pt x="85725" y="152400"/>
                </a:cubicBezTo>
                <a:cubicBezTo>
                  <a:pt x="90994" y="152400"/>
                  <a:pt x="95250" y="148144"/>
                  <a:pt x="95250" y="142875"/>
                </a:cubicBezTo>
                <a:lnTo>
                  <a:pt x="95250" y="64115"/>
                </a:lnTo>
                <a:close/>
                <a:moveTo>
                  <a:pt x="53638" y="27087"/>
                </a:moveTo>
                <a:cubicBezTo>
                  <a:pt x="55781" y="23753"/>
                  <a:pt x="54799" y="19348"/>
                  <a:pt x="51495" y="17205"/>
                </a:cubicBezTo>
                <a:cubicBezTo>
                  <a:pt x="48191" y="15061"/>
                  <a:pt x="43755" y="16044"/>
                  <a:pt x="41612" y="19348"/>
                </a:cubicBezTo>
                <a:cubicBezTo>
                  <a:pt x="36374" y="27503"/>
                  <a:pt x="33338" y="37207"/>
                  <a:pt x="33338" y="47625"/>
                </a:cubicBezTo>
                <a:cubicBezTo>
                  <a:pt x="33338" y="58043"/>
                  <a:pt x="36374" y="67747"/>
                  <a:pt x="41612" y="75902"/>
                </a:cubicBezTo>
                <a:cubicBezTo>
                  <a:pt x="43755" y="79236"/>
                  <a:pt x="48161" y="80189"/>
                  <a:pt x="51495" y="78045"/>
                </a:cubicBezTo>
                <a:cubicBezTo>
                  <a:pt x="54828" y="75902"/>
                  <a:pt x="55781" y="71497"/>
                  <a:pt x="53638" y="68163"/>
                </a:cubicBezTo>
                <a:cubicBezTo>
                  <a:pt x="49828" y="62240"/>
                  <a:pt x="47625" y="55185"/>
                  <a:pt x="47625" y="47625"/>
                </a:cubicBezTo>
                <a:cubicBezTo>
                  <a:pt x="47625" y="40065"/>
                  <a:pt x="49828" y="33010"/>
                  <a:pt x="53638" y="27087"/>
                </a:cubicBezTo>
                <a:close/>
                <a:moveTo>
                  <a:pt x="129838" y="19348"/>
                </a:moveTo>
                <a:cubicBezTo>
                  <a:pt x="127695" y="16014"/>
                  <a:pt x="123289" y="15061"/>
                  <a:pt x="119955" y="17205"/>
                </a:cubicBezTo>
                <a:cubicBezTo>
                  <a:pt x="116622" y="19348"/>
                  <a:pt x="115669" y="23753"/>
                  <a:pt x="117812" y="27087"/>
                </a:cubicBezTo>
                <a:cubicBezTo>
                  <a:pt x="121622" y="33010"/>
                  <a:pt x="123825" y="40065"/>
                  <a:pt x="123825" y="47625"/>
                </a:cubicBezTo>
                <a:cubicBezTo>
                  <a:pt x="123825" y="55185"/>
                  <a:pt x="121622" y="62240"/>
                  <a:pt x="117812" y="68163"/>
                </a:cubicBezTo>
                <a:cubicBezTo>
                  <a:pt x="115669" y="71497"/>
                  <a:pt x="116651" y="75902"/>
                  <a:pt x="119955" y="78045"/>
                </a:cubicBezTo>
                <a:cubicBezTo>
                  <a:pt x="123259" y="80189"/>
                  <a:pt x="127695" y="79206"/>
                  <a:pt x="129838" y="75902"/>
                </a:cubicBezTo>
                <a:cubicBezTo>
                  <a:pt x="135076" y="67747"/>
                  <a:pt x="138113" y="58043"/>
                  <a:pt x="138113" y="47625"/>
                </a:cubicBezTo>
                <a:cubicBezTo>
                  <a:pt x="138113" y="37207"/>
                  <a:pt x="135076" y="27503"/>
                  <a:pt x="129838" y="1934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9625" y="5648325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Pub/Sub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2925" y="5991225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publish-subscribe across the cluster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5198" y="5491163"/>
            <a:ext cx="3295650" cy="885825"/>
          </a:xfrm>
          <a:custGeom>
            <a:avLst/>
            <a:gdLst/>
            <a:ahLst/>
            <a:cxnLst/>
            <a:rect l="l" t="t" r="r" b="b"/>
            <a:pathLst>
              <a:path w="3295650" h="885825">
                <a:moveTo>
                  <a:pt x="76199" y="0"/>
                </a:moveTo>
                <a:lnTo>
                  <a:pt x="3219451" y="0"/>
                </a:lnTo>
                <a:cubicBezTo>
                  <a:pt x="3261535" y="0"/>
                  <a:pt x="3295650" y="34115"/>
                  <a:pt x="3295650" y="76199"/>
                </a:cubicBezTo>
                <a:lnTo>
                  <a:pt x="3295650" y="809626"/>
                </a:lnTo>
                <a:cubicBezTo>
                  <a:pt x="3295650" y="851710"/>
                  <a:pt x="3261535" y="885825"/>
                  <a:pt x="32194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30935" y="57054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69060" y="5648325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 State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02360" y="5991225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 state across nodes with consistency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80908" y="1452563"/>
            <a:ext cx="4429125" cy="3095625"/>
          </a:xfrm>
          <a:custGeom>
            <a:avLst/>
            <a:gdLst/>
            <a:ahLst/>
            <a:cxnLst/>
            <a:rect l="l" t="t" r="r" b="b"/>
            <a:pathLst>
              <a:path w="4429125" h="3095625">
                <a:moveTo>
                  <a:pt x="76214" y="0"/>
                </a:moveTo>
                <a:lnTo>
                  <a:pt x="4352911" y="0"/>
                </a:lnTo>
                <a:cubicBezTo>
                  <a:pt x="4395003" y="0"/>
                  <a:pt x="4429125" y="34122"/>
                  <a:pt x="4429125" y="76214"/>
                </a:cubicBezTo>
                <a:lnTo>
                  <a:pt x="4429125" y="3019411"/>
                </a:lnTo>
                <a:cubicBezTo>
                  <a:pt x="4429125" y="3061503"/>
                  <a:pt x="4395003" y="3095625"/>
                  <a:pt x="4352911" y="3095625"/>
                </a:cubicBezTo>
                <a:lnTo>
                  <a:pt x="76214" y="3095625"/>
                </a:lnTo>
                <a:cubicBezTo>
                  <a:pt x="34122" y="3095625"/>
                  <a:pt x="0" y="3061503"/>
                  <a:pt x="0" y="3019411"/>
                </a:cubicBezTo>
                <a:lnTo>
                  <a:pt x="0" y="76214"/>
                </a:lnTo>
                <a:cubicBezTo>
                  <a:pt x="0" y="34122"/>
                  <a:pt x="34122" y="0"/>
                  <a:pt x="76214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76170" y="1647825"/>
            <a:ext cx="413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76170" y="2066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99995" y="2181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071470" y="2066925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Distributed Databases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71470" y="2295525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Riak, CouchDB built on BEAM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76170" y="2676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677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690470" y="2790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071470" y="2676525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Message Brokers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71470" y="2905125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RabbitMQ (Erlang-based)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76170" y="3286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690470" y="3400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4534" y="-387"/>
                </a:moveTo>
                <a:cubicBezTo>
                  <a:pt x="79385" y="-3364"/>
                  <a:pt x="73015" y="-3364"/>
                  <a:pt x="67866" y="-387"/>
                </a:cubicBezTo>
                <a:lnTo>
                  <a:pt x="42803" y="14079"/>
                </a:lnTo>
                <a:cubicBezTo>
                  <a:pt x="37654" y="17056"/>
                  <a:pt x="34469" y="22562"/>
                  <a:pt x="34469" y="28515"/>
                </a:cubicBezTo>
                <a:lnTo>
                  <a:pt x="34469" y="58847"/>
                </a:lnTo>
                <a:lnTo>
                  <a:pt x="8186" y="74027"/>
                </a:lnTo>
                <a:cubicBezTo>
                  <a:pt x="3036" y="77004"/>
                  <a:pt x="-149" y="82510"/>
                  <a:pt x="-149" y="88463"/>
                </a:cubicBezTo>
                <a:lnTo>
                  <a:pt x="-149" y="117425"/>
                </a:lnTo>
                <a:cubicBezTo>
                  <a:pt x="-149" y="123379"/>
                  <a:pt x="3036" y="128885"/>
                  <a:pt x="8186" y="131862"/>
                </a:cubicBezTo>
                <a:lnTo>
                  <a:pt x="33278" y="146328"/>
                </a:lnTo>
                <a:cubicBezTo>
                  <a:pt x="38427" y="149304"/>
                  <a:pt x="44797" y="149304"/>
                  <a:pt x="49947" y="146328"/>
                </a:cubicBezTo>
                <a:lnTo>
                  <a:pt x="76230" y="131147"/>
                </a:lnTo>
                <a:lnTo>
                  <a:pt x="102513" y="146328"/>
                </a:lnTo>
                <a:cubicBezTo>
                  <a:pt x="107662" y="149304"/>
                  <a:pt x="114032" y="149304"/>
                  <a:pt x="119182" y="146328"/>
                </a:cubicBezTo>
                <a:lnTo>
                  <a:pt x="144214" y="131862"/>
                </a:lnTo>
                <a:cubicBezTo>
                  <a:pt x="149364" y="128885"/>
                  <a:pt x="152549" y="123379"/>
                  <a:pt x="152549" y="117425"/>
                </a:cubicBezTo>
                <a:lnTo>
                  <a:pt x="152549" y="88463"/>
                </a:lnTo>
                <a:cubicBezTo>
                  <a:pt x="152549" y="82510"/>
                  <a:pt x="149364" y="77004"/>
                  <a:pt x="144214" y="74027"/>
                </a:cubicBezTo>
                <a:lnTo>
                  <a:pt x="117931" y="58847"/>
                </a:lnTo>
                <a:lnTo>
                  <a:pt x="117931" y="28515"/>
                </a:lnTo>
                <a:cubicBezTo>
                  <a:pt x="117931" y="22562"/>
                  <a:pt x="114746" y="17056"/>
                  <a:pt x="109597" y="14079"/>
                </a:cubicBezTo>
                <a:lnTo>
                  <a:pt x="84534" y="-387"/>
                </a:lnTo>
                <a:close/>
                <a:moveTo>
                  <a:pt x="69056" y="87094"/>
                </a:moveTo>
                <a:lnTo>
                  <a:pt x="69056" y="118795"/>
                </a:lnTo>
                <a:lnTo>
                  <a:pt x="42773" y="133975"/>
                </a:lnTo>
                <a:cubicBezTo>
                  <a:pt x="42416" y="134183"/>
                  <a:pt x="41999" y="134303"/>
                  <a:pt x="41583" y="134303"/>
                </a:cubicBezTo>
                <a:lnTo>
                  <a:pt x="41583" y="102959"/>
                </a:lnTo>
                <a:lnTo>
                  <a:pt x="69056" y="87094"/>
                </a:lnTo>
                <a:close/>
                <a:moveTo>
                  <a:pt x="137934" y="87273"/>
                </a:moveTo>
                <a:cubicBezTo>
                  <a:pt x="138142" y="87630"/>
                  <a:pt x="138261" y="88047"/>
                  <a:pt x="138261" y="88463"/>
                </a:cubicBezTo>
                <a:lnTo>
                  <a:pt x="138261" y="117425"/>
                </a:lnTo>
                <a:cubicBezTo>
                  <a:pt x="138261" y="118289"/>
                  <a:pt x="137815" y="119063"/>
                  <a:pt x="137071" y="119479"/>
                </a:cubicBezTo>
                <a:lnTo>
                  <a:pt x="111978" y="133945"/>
                </a:lnTo>
                <a:cubicBezTo>
                  <a:pt x="111621" y="134154"/>
                  <a:pt x="111204" y="134273"/>
                  <a:pt x="110788" y="134273"/>
                </a:cubicBezTo>
                <a:lnTo>
                  <a:pt x="110788" y="102930"/>
                </a:lnTo>
                <a:lnTo>
                  <a:pt x="137934" y="87273"/>
                </a:lnTo>
                <a:close/>
                <a:moveTo>
                  <a:pt x="103674" y="28515"/>
                </a:moveTo>
                <a:lnTo>
                  <a:pt x="103674" y="58847"/>
                </a:lnTo>
                <a:lnTo>
                  <a:pt x="76200" y="74712"/>
                </a:lnTo>
                <a:lnTo>
                  <a:pt x="76200" y="43011"/>
                </a:lnTo>
                <a:lnTo>
                  <a:pt x="103346" y="27355"/>
                </a:lnTo>
                <a:cubicBezTo>
                  <a:pt x="103555" y="27712"/>
                  <a:pt x="103674" y="28129"/>
                  <a:pt x="103674" y="2854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71470" y="3286125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71470" y="3514725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coordination &amp; discovery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76170" y="3895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671420" y="40100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33350" y="19050"/>
                </a:moveTo>
                <a:cubicBezTo>
                  <a:pt x="164902" y="19050"/>
                  <a:pt x="190500" y="44648"/>
                  <a:pt x="190500" y="76200"/>
                </a:cubicBezTo>
                <a:cubicBezTo>
                  <a:pt x="190500" y="107752"/>
                  <a:pt x="164902" y="133350"/>
                  <a:pt x="133350" y="133350"/>
                </a:cubicBezTo>
                <a:lnTo>
                  <a:pt x="57150" y="133350"/>
                </a:lnTo>
                <a:cubicBezTo>
                  <a:pt x="25598" y="133350"/>
                  <a:pt x="0" y="107752"/>
                  <a:pt x="0" y="76200"/>
                </a:cubicBezTo>
                <a:cubicBezTo>
                  <a:pt x="0" y="44648"/>
                  <a:pt x="25598" y="19050"/>
                  <a:pt x="57150" y="19050"/>
                </a:cubicBezTo>
                <a:lnTo>
                  <a:pt x="133350" y="19050"/>
                </a:lnTo>
                <a:close/>
                <a:moveTo>
                  <a:pt x="57150" y="52388"/>
                </a:moveTo>
                <a:cubicBezTo>
                  <a:pt x="53191" y="52388"/>
                  <a:pt x="50006" y="55572"/>
                  <a:pt x="50006" y="59531"/>
                </a:cubicBezTo>
                <a:lnTo>
                  <a:pt x="50006" y="69056"/>
                </a:lnTo>
                <a:lnTo>
                  <a:pt x="40481" y="69056"/>
                </a:lnTo>
                <a:cubicBezTo>
                  <a:pt x="36522" y="69056"/>
                  <a:pt x="33338" y="72241"/>
                  <a:pt x="33338" y="76200"/>
                </a:cubicBezTo>
                <a:cubicBezTo>
                  <a:pt x="33338" y="80159"/>
                  <a:pt x="36522" y="83344"/>
                  <a:pt x="40481" y="83344"/>
                </a:cubicBezTo>
                <a:lnTo>
                  <a:pt x="50006" y="83344"/>
                </a:lnTo>
                <a:lnTo>
                  <a:pt x="50006" y="92869"/>
                </a:lnTo>
                <a:cubicBezTo>
                  <a:pt x="50006" y="96828"/>
                  <a:pt x="53191" y="100013"/>
                  <a:pt x="57150" y="100013"/>
                </a:cubicBezTo>
                <a:cubicBezTo>
                  <a:pt x="61109" y="100013"/>
                  <a:pt x="64294" y="96828"/>
                  <a:pt x="64294" y="92869"/>
                </a:cubicBezTo>
                <a:lnTo>
                  <a:pt x="64294" y="83344"/>
                </a:lnTo>
                <a:lnTo>
                  <a:pt x="73819" y="83344"/>
                </a:lnTo>
                <a:cubicBezTo>
                  <a:pt x="77778" y="83344"/>
                  <a:pt x="80962" y="80159"/>
                  <a:pt x="80962" y="76200"/>
                </a:cubicBezTo>
                <a:cubicBezTo>
                  <a:pt x="80962" y="72241"/>
                  <a:pt x="77778" y="69056"/>
                  <a:pt x="73819" y="69056"/>
                </a:cubicBezTo>
                <a:lnTo>
                  <a:pt x="64294" y="69056"/>
                </a:lnTo>
                <a:lnTo>
                  <a:pt x="64294" y="59531"/>
                </a:lnTo>
                <a:cubicBezTo>
                  <a:pt x="64294" y="55572"/>
                  <a:pt x="61109" y="52388"/>
                  <a:pt x="57150" y="52388"/>
                </a:cubicBezTo>
                <a:close/>
                <a:moveTo>
                  <a:pt x="128588" y="80962"/>
                </a:moveTo>
                <a:cubicBezTo>
                  <a:pt x="123331" y="80962"/>
                  <a:pt x="119062" y="85231"/>
                  <a:pt x="119062" y="90488"/>
                </a:cubicBezTo>
                <a:cubicBezTo>
                  <a:pt x="119062" y="95744"/>
                  <a:pt x="123331" y="100013"/>
                  <a:pt x="128588" y="100013"/>
                </a:cubicBezTo>
                <a:cubicBezTo>
                  <a:pt x="133844" y="100013"/>
                  <a:pt x="138113" y="95744"/>
                  <a:pt x="138113" y="90488"/>
                </a:cubicBezTo>
                <a:cubicBezTo>
                  <a:pt x="138113" y="85231"/>
                  <a:pt x="133844" y="80962"/>
                  <a:pt x="128588" y="80962"/>
                </a:cubicBezTo>
                <a:close/>
                <a:moveTo>
                  <a:pt x="147638" y="52388"/>
                </a:moveTo>
                <a:cubicBezTo>
                  <a:pt x="142381" y="52388"/>
                  <a:pt x="138113" y="56656"/>
                  <a:pt x="138113" y="61912"/>
                </a:cubicBezTo>
                <a:cubicBezTo>
                  <a:pt x="138113" y="67169"/>
                  <a:pt x="142381" y="71438"/>
                  <a:pt x="147638" y="71438"/>
                </a:cubicBezTo>
                <a:cubicBezTo>
                  <a:pt x="152894" y="71438"/>
                  <a:pt x="157163" y="67169"/>
                  <a:pt x="157163" y="61912"/>
                </a:cubicBezTo>
                <a:cubicBezTo>
                  <a:pt x="157163" y="56656"/>
                  <a:pt x="152894" y="52388"/>
                  <a:pt x="147638" y="52388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071470" y="3895725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Servers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071470" y="4124325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Multi-node game backends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80908" y="4710113"/>
            <a:ext cx="4429125" cy="1438275"/>
          </a:xfrm>
          <a:custGeom>
            <a:avLst/>
            <a:gdLst/>
            <a:ahLst/>
            <a:cxnLst/>
            <a:rect l="l" t="t" r="r" b="b"/>
            <a:pathLst>
              <a:path w="4429125" h="1438275">
                <a:moveTo>
                  <a:pt x="76200" y="0"/>
                </a:moveTo>
                <a:lnTo>
                  <a:pt x="4352925" y="0"/>
                </a:lnTo>
                <a:cubicBezTo>
                  <a:pt x="4395009" y="0"/>
                  <a:pt x="4429125" y="34116"/>
                  <a:pt x="4429125" y="76200"/>
                </a:cubicBezTo>
                <a:lnTo>
                  <a:pt x="4429125" y="1362075"/>
                </a:lnTo>
                <a:cubicBezTo>
                  <a:pt x="4429125" y="1404159"/>
                  <a:pt x="4395009" y="1438275"/>
                  <a:pt x="4352925" y="1438275"/>
                </a:cubicBezTo>
                <a:lnTo>
                  <a:pt x="76200" y="1438275"/>
                </a:lnTo>
                <a:cubicBezTo>
                  <a:pt x="34116" y="1438275"/>
                  <a:pt x="0" y="1404159"/>
                  <a:pt x="0" y="13620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538070" y="4867275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Power of Location Transparency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38070" y="5248275"/>
            <a:ext cx="4191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written for a single node works on a cluster without modification. This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 transparency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dramatically simplifies distributed system development.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266700"/>
          </a:xfrm>
          <a:custGeom>
            <a:avLst/>
            <a:gdLst/>
            <a:ahLst/>
            <a:cxnLst/>
            <a:rect l="l" t="t" r="r" b="b"/>
            <a:pathLst>
              <a:path w="381000" h="2667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228599"/>
                </a:lnTo>
                <a:cubicBezTo>
                  <a:pt x="381000" y="249642"/>
                  <a:pt x="363942" y="266700"/>
                  <a:pt x="3428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47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8235" y="40005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Examples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Syntax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5763" y="1452563"/>
            <a:ext cx="5591175" cy="2867025"/>
          </a:xfrm>
          <a:custGeom>
            <a:avLst/>
            <a:gdLst/>
            <a:ahLst/>
            <a:cxnLst/>
            <a:rect l="l" t="t" r="r" b="b"/>
            <a:pathLst>
              <a:path w="5591175" h="2867025">
                <a:moveTo>
                  <a:pt x="76206" y="0"/>
                </a:moveTo>
                <a:lnTo>
                  <a:pt x="5514969" y="0"/>
                </a:lnTo>
                <a:cubicBezTo>
                  <a:pt x="5557057" y="0"/>
                  <a:pt x="5591175" y="34118"/>
                  <a:pt x="5591175" y="76206"/>
                </a:cubicBezTo>
                <a:lnTo>
                  <a:pt x="5591175" y="2790819"/>
                </a:lnTo>
                <a:cubicBezTo>
                  <a:pt x="5591175" y="2832907"/>
                  <a:pt x="5557057" y="2867025"/>
                  <a:pt x="5514969" y="2867025"/>
                </a:cubicBezTo>
                <a:lnTo>
                  <a:pt x="76206" y="2867025"/>
                </a:lnTo>
                <a:cubicBezTo>
                  <a:pt x="34118" y="2867025"/>
                  <a:pt x="0" y="2832907"/>
                  <a:pt x="0" y="27908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2925" y="1609725"/>
            <a:ext cx="5353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Module definition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1885950"/>
            <a:ext cx="89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defmodule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57474" y="1885950"/>
            <a:ext cx="442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14748" y="1885950"/>
            <a:ext cx="2591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325" y="210502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Public function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5325" y="23526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square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7725" y="2600325"/>
            <a:ext cx="504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*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5325" y="2876550"/>
            <a:ext cx="350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5325" y="317182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Pattern matching in function heads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5325" y="34194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factorial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5325" y="366712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factorial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*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factorial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925" y="3943350"/>
            <a:ext cx="350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4481513"/>
            <a:ext cx="5591175" cy="1552575"/>
          </a:xfrm>
          <a:custGeom>
            <a:avLst/>
            <a:gdLst/>
            <a:ahLst/>
            <a:cxnLst/>
            <a:rect l="l" t="t" r="r" b="b"/>
            <a:pathLst>
              <a:path w="5591175" h="1552575">
                <a:moveTo>
                  <a:pt x="76200" y="0"/>
                </a:moveTo>
                <a:lnTo>
                  <a:pt x="5514975" y="0"/>
                </a:lnTo>
                <a:cubicBezTo>
                  <a:pt x="5557059" y="0"/>
                  <a:pt x="5591175" y="34116"/>
                  <a:pt x="5591175" y="76200"/>
                </a:cubicBezTo>
                <a:lnTo>
                  <a:pt x="5591175" y="1476375"/>
                </a:lnTo>
                <a:cubicBezTo>
                  <a:pt x="5591175" y="1518459"/>
                  <a:pt x="5557059" y="1552575"/>
                  <a:pt x="5514975" y="1552575"/>
                </a:cubicBezTo>
                <a:lnTo>
                  <a:pt x="76200" y="1552575"/>
                </a:lnTo>
                <a:cubicBezTo>
                  <a:pt x="34116" y="1552575"/>
                  <a:pt x="0" y="1518459"/>
                  <a:pt x="0" y="14763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2925" y="4638675"/>
            <a:ext cx="5353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The pipe operator: passes result as first argument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925" y="4886325"/>
            <a:ext cx="5353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5325" y="51339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|&gt;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Enum.map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(&amp;(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&amp;1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*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 </a:t>
            </a: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[2, 4, 6, 8, 10]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5325" y="538162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|&gt;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Enum.filter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(&amp;(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&amp;1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&gt; </a:t>
            </a:r>
            <a:r>
              <a:rPr lang="en-US" sz="12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 </a:t>
            </a: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[6, 8, 10]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5325" y="56292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|&gt; </a:t>
            </a:r>
            <a:r>
              <a:rPr lang="en-US" sz="12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Enum.sum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 </a:t>
            </a:r>
            <a:r>
              <a:rPr lang="en-US" sz="12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24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5063" y="1452563"/>
            <a:ext cx="5591175" cy="3867150"/>
          </a:xfrm>
          <a:custGeom>
            <a:avLst/>
            <a:gdLst/>
            <a:ahLst/>
            <a:cxnLst/>
            <a:rect l="l" t="t" r="r" b="b"/>
            <a:pathLst>
              <a:path w="5591175" h="3867150">
                <a:moveTo>
                  <a:pt x="76183" y="0"/>
                </a:moveTo>
                <a:lnTo>
                  <a:pt x="5514992" y="0"/>
                </a:lnTo>
                <a:cubicBezTo>
                  <a:pt x="5557039" y="0"/>
                  <a:pt x="5591175" y="34136"/>
                  <a:pt x="5591175" y="76183"/>
                </a:cubicBezTo>
                <a:lnTo>
                  <a:pt x="5591175" y="3790967"/>
                </a:lnTo>
                <a:cubicBezTo>
                  <a:pt x="5591175" y="3833042"/>
                  <a:pt x="5557067" y="3867150"/>
                  <a:pt x="5514992" y="3867150"/>
                </a:cubicBezTo>
                <a:lnTo>
                  <a:pt x="76183" y="3867150"/>
                </a:lnTo>
                <a:cubicBezTo>
                  <a:pt x="34136" y="3867150"/>
                  <a:pt x="0" y="3833014"/>
                  <a:pt x="0" y="3790967"/>
                </a:cubicBezTo>
                <a:lnTo>
                  <a:pt x="0" y="76183"/>
                </a:lnTo>
                <a:cubicBezTo>
                  <a:pt x="0" y="34136"/>
                  <a:pt x="34136" y="0"/>
                  <a:pt x="76183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10325" y="1647825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9375" y="2124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7025" y="2066925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0325" y="2409825"/>
            <a:ext cx="5276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is organized into modules using </a:t>
            </a:r>
            <a:r>
              <a:rPr lang="en-US" sz="1200" dirty="0">
                <a:solidFill>
                  <a:srgbClr val="4B9F8E"/>
                </a:solidFill>
                <a:highlight>
                  <a:srgbClr val="5C677D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defmodule 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Functions are defined with </a:t>
            </a:r>
            <a:r>
              <a:rPr lang="en-US" sz="1200" dirty="0">
                <a:solidFill>
                  <a:srgbClr val="4B9F8E"/>
                </a:solidFill>
                <a:highlight>
                  <a:srgbClr val="5C677D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def 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(public) or </a:t>
            </a:r>
            <a:r>
              <a:rPr lang="en-US" sz="1200" dirty="0">
                <a:solidFill>
                  <a:srgbClr val="4B9F8E"/>
                </a:solidFill>
                <a:highlight>
                  <a:srgbClr val="5C677D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defp 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(private).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0325" y="3043238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  <a:lnTo>
                  <a:pt x="52006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B9F8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29375" y="3257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7025" y="320040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Matching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10325" y="3543300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 can have multiple clauses that match different argument patterns. The first matching clause executes.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10325" y="4157663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  <a:lnTo>
                  <a:pt x="52006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B9F8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29375" y="4371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23825" y="19050"/>
                </a:lnTo>
                <a:cubicBezTo>
                  <a:pt x="129094" y="19050"/>
                  <a:pt x="133350" y="23306"/>
                  <a:pt x="133350" y="28575"/>
                </a:cubicBezTo>
                <a:cubicBezTo>
                  <a:pt x="133350" y="33844"/>
                  <a:pt x="129094" y="38100"/>
                  <a:pt x="123825" y="38100"/>
                </a:cubicBezTo>
                <a:lnTo>
                  <a:pt x="9525" y="38100"/>
                </a:lnTo>
                <a:cubicBezTo>
                  <a:pt x="4256" y="38100"/>
                  <a:pt x="0" y="33844"/>
                  <a:pt x="0" y="28575"/>
                </a:cubicBezTo>
                <a:close/>
                <a:moveTo>
                  <a:pt x="19050" y="76200"/>
                </a:moveTo>
                <a:cubicBezTo>
                  <a:pt x="19050" y="70931"/>
                  <a:pt x="23306" y="66675"/>
                  <a:pt x="2857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28575" y="85725"/>
                </a:lnTo>
                <a:cubicBezTo>
                  <a:pt x="23306" y="85725"/>
                  <a:pt x="19050" y="81469"/>
                  <a:pt x="19050" y="76200"/>
                </a:cubicBezTo>
                <a:close/>
                <a:moveTo>
                  <a:pt x="133350" y="123825"/>
                </a:moveTo>
                <a:cubicBezTo>
                  <a:pt x="133350" y="129094"/>
                  <a:pt x="129094" y="133350"/>
                  <a:pt x="123825" y="133350"/>
                </a:cubicBezTo>
                <a:lnTo>
                  <a:pt x="9525" y="133350"/>
                </a:lnTo>
                <a:cubicBezTo>
                  <a:pt x="4256" y="133350"/>
                  <a:pt x="0" y="129094"/>
                  <a:pt x="0" y="123825"/>
                </a:cubicBezTo>
                <a:cubicBezTo>
                  <a:pt x="0" y="118556"/>
                  <a:pt x="4256" y="114300"/>
                  <a:pt x="9525" y="114300"/>
                </a:cubicBezTo>
                <a:lnTo>
                  <a:pt x="123825" y="114300"/>
                </a:lnTo>
                <a:cubicBezTo>
                  <a:pt x="129094" y="114300"/>
                  <a:pt x="133350" y="118556"/>
                  <a:pt x="133350" y="123825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77025" y="4314825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 Operator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10325" y="4657725"/>
            <a:ext cx="52768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200" dirty="0">
                <a:solidFill>
                  <a:srgbClr val="4B9F8E"/>
                </a:solidFill>
                <a:highlight>
                  <a:srgbClr val="5C677D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|&gt; 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operator passes the result of the left expression as the first argument to the right function, enabling readable data transformation pipelines.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5063" y="5481638"/>
            <a:ext cx="5591175" cy="771525"/>
          </a:xfrm>
          <a:custGeom>
            <a:avLst/>
            <a:gdLst/>
            <a:ahLst/>
            <a:cxnLst/>
            <a:rect l="l" t="t" r="r" b="b"/>
            <a:pathLst>
              <a:path w="5591175" h="771525">
                <a:moveTo>
                  <a:pt x="76204" y="0"/>
                </a:moveTo>
                <a:lnTo>
                  <a:pt x="5514971" y="0"/>
                </a:lnTo>
                <a:cubicBezTo>
                  <a:pt x="5557058" y="0"/>
                  <a:pt x="5591175" y="34117"/>
                  <a:pt x="5591175" y="76204"/>
                </a:cubicBezTo>
                <a:lnTo>
                  <a:pt x="5591175" y="695321"/>
                </a:lnTo>
                <a:cubicBezTo>
                  <a:pt x="5591175" y="737408"/>
                  <a:pt x="5557058" y="771525"/>
                  <a:pt x="55149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10325" y="567213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19875" y="56388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explicit return statements. The last expression in a function is its return value.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992" y="341992"/>
            <a:ext cx="341992" cy="239394"/>
          </a:xfrm>
          <a:custGeom>
            <a:avLst/>
            <a:gdLst/>
            <a:ahLst/>
            <a:cxnLst/>
            <a:rect l="l" t="t" r="r" b="b"/>
            <a:pathLst>
              <a:path w="341992" h="239394">
                <a:moveTo>
                  <a:pt x="34200" y="0"/>
                </a:moveTo>
                <a:lnTo>
                  <a:pt x="307792" y="0"/>
                </a:lnTo>
                <a:cubicBezTo>
                  <a:pt x="326667" y="0"/>
                  <a:pt x="341992" y="15324"/>
                  <a:pt x="341992" y="34200"/>
                </a:cubicBezTo>
                <a:lnTo>
                  <a:pt x="341992" y="205194"/>
                </a:lnTo>
                <a:cubicBezTo>
                  <a:pt x="341992" y="224070"/>
                  <a:pt x="326667" y="239394"/>
                  <a:pt x="307792" y="239394"/>
                </a:cubicBezTo>
                <a:lnTo>
                  <a:pt x="34200" y="239394"/>
                </a:lnTo>
                <a:cubicBezTo>
                  <a:pt x="15324" y="239394"/>
                  <a:pt x="0" y="224070"/>
                  <a:pt x="0" y="205194"/>
                </a:cubicBezTo>
                <a:lnTo>
                  <a:pt x="0" y="34200"/>
                </a:lnTo>
                <a:cubicBezTo>
                  <a:pt x="0" y="15324"/>
                  <a:pt x="15324" y="0"/>
                  <a:pt x="34200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1992" y="341992"/>
            <a:ext cx="401840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8317" y="359091"/>
            <a:ext cx="983226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Examples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1992" y="649784"/>
            <a:ext cx="11661913" cy="34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Concurrency in Action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1992" y="1094373"/>
            <a:ext cx="683983" cy="34199"/>
          </a:xfrm>
          <a:custGeom>
            <a:avLst/>
            <a:gdLst/>
            <a:ahLst/>
            <a:cxnLst/>
            <a:rect l="l" t="t" r="r" b="b"/>
            <a:pathLst>
              <a:path w="683983" h="34199">
                <a:moveTo>
                  <a:pt x="0" y="0"/>
                </a:moveTo>
                <a:lnTo>
                  <a:pt x="683983" y="0"/>
                </a:lnTo>
                <a:lnTo>
                  <a:pt x="683983" y="34199"/>
                </a:lnTo>
                <a:lnTo>
                  <a:pt x="0" y="34199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6266" y="1199068"/>
            <a:ext cx="5642861" cy="3342968"/>
          </a:xfrm>
          <a:custGeom>
            <a:avLst/>
            <a:gdLst/>
            <a:ahLst/>
            <a:cxnLst/>
            <a:rect l="l" t="t" r="r" b="b"/>
            <a:pathLst>
              <a:path w="5642861" h="3342968">
                <a:moveTo>
                  <a:pt x="68397" y="0"/>
                </a:moveTo>
                <a:lnTo>
                  <a:pt x="5574464" y="0"/>
                </a:lnTo>
                <a:cubicBezTo>
                  <a:pt x="5612239" y="0"/>
                  <a:pt x="5642861" y="30622"/>
                  <a:pt x="5642861" y="68397"/>
                </a:cubicBezTo>
                <a:lnTo>
                  <a:pt x="5642861" y="3274571"/>
                </a:lnTo>
                <a:cubicBezTo>
                  <a:pt x="5642861" y="3312345"/>
                  <a:pt x="5612239" y="3342968"/>
                  <a:pt x="5574464" y="3342968"/>
                </a:cubicBezTo>
                <a:lnTo>
                  <a:pt x="68397" y="3342968"/>
                </a:lnTo>
                <a:cubicBezTo>
                  <a:pt x="30622" y="3342968"/>
                  <a:pt x="0" y="3312345"/>
                  <a:pt x="0" y="3274571"/>
                </a:cubicBezTo>
                <a:lnTo>
                  <a:pt x="0" y="68397"/>
                </a:lnTo>
                <a:cubicBezTo>
                  <a:pt x="0" y="30648"/>
                  <a:pt x="30648" y="0"/>
                  <a:pt x="68397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7338" y="1330614"/>
            <a:ext cx="5429116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Spawn a new process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7338" y="1552909"/>
            <a:ext cx="5429116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pid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spawn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fn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-&gt;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4135" y="1800853"/>
            <a:ext cx="643038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receive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865" y="1800853"/>
            <a:ext cx="232581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0931" y="1997498"/>
            <a:ext cx="5155523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:hello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sender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 -&gt;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7728" y="2219793"/>
            <a:ext cx="5018727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send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sender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:world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4135" y="2467736"/>
            <a:ext cx="314672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338" y="2664382"/>
            <a:ext cx="5429116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7338" y="2989274"/>
            <a:ext cx="5429116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Send a message to the process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7338" y="3211568"/>
            <a:ext cx="5429116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send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pid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{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:hello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()})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7338" y="3502261"/>
            <a:ext cx="5429116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Receive the response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7338" y="3750205"/>
            <a:ext cx="643038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receive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4069" y="3750205"/>
            <a:ext cx="232581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4135" y="3946850"/>
            <a:ext cx="5292320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:world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-&gt; 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IO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puts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"Received!"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7338" y="4194794"/>
            <a:ext cx="314672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6266" y="4687382"/>
            <a:ext cx="5642861" cy="2060499"/>
          </a:xfrm>
          <a:custGeom>
            <a:avLst/>
            <a:gdLst/>
            <a:ahLst/>
            <a:cxnLst/>
            <a:rect l="l" t="t" r="r" b="b"/>
            <a:pathLst>
              <a:path w="5642861" h="2060499">
                <a:moveTo>
                  <a:pt x="68409" y="0"/>
                </a:moveTo>
                <a:lnTo>
                  <a:pt x="5574453" y="0"/>
                </a:lnTo>
                <a:cubicBezTo>
                  <a:pt x="5612234" y="0"/>
                  <a:pt x="5642861" y="30628"/>
                  <a:pt x="5642861" y="68409"/>
                </a:cubicBezTo>
                <a:lnTo>
                  <a:pt x="5642861" y="1992091"/>
                </a:lnTo>
                <a:cubicBezTo>
                  <a:pt x="5642861" y="2029872"/>
                  <a:pt x="5612234" y="2060499"/>
                  <a:pt x="5574453" y="2060499"/>
                </a:cubicBezTo>
                <a:lnTo>
                  <a:pt x="68409" y="2060499"/>
                </a:lnTo>
                <a:cubicBezTo>
                  <a:pt x="30628" y="2060499"/>
                  <a:pt x="0" y="2029872"/>
                  <a:pt x="0" y="1992091"/>
                </a:cubicBezTo>
                <a:lnTo>
                  <a:pt x="0" y="68409"/>
                </a:lnTo>
                <a:cubicBezTo>
                  <a:pt x="0" y="30628"/>
                  <a:pt x="30628" y="0"/>
                  <a:pt x="68409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7338" y="4847504"/>
            <a:ext cx="5429116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Parallel map implementation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7338" y="5095448"/>
            <a:ext cx="807220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defmodule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08251" y="5095448"/>
            <a:ext cx="725129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Parallel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47073" y="5095448"/>
            <a:ext cx="232581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4135" y="5292093"/>
            <a:ext cx="5292320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collection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</a:t>
            </a: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0931" y="5540037"/>
            <a:ext cx="889312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7728" y="5736682"/>
            <a:ext cx="5018727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|&gt; 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Enum.map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(&amp;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Task.async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fn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-&gt; 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.(&amp;1) </a:t>
            </a: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7728" y="5958976"/>
            <a:ext cx="5018727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|&gt; 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Enum.map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(&amp;</a:t>
            </a:r>
            <a:r>
              <a:rPr lang="en-US" sz="1077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Task.await</a:t>
            </a: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/1)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4135" y="6206920"/>
            <a:ext cx="314672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7338" y="6429215"/>
            <a:ext cx="314672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01870" y="1303843"/>
            <a:ext cx="5642861" cy="3548163"/>
          </a:xfrm>
          <a:custGeom>
            <a:avLst/>
            <a:gdLst/>
            <a:ahLst/>
            <a:cxnLst/>
            <a:rect l="l" t="t" r="r" b="b"/>
            <a:pathLst>
              <a:path w="5642861" h="3548163">
                <a:moveTo>
                  <a:pt x="68409" y="0"/>
                </a:moveTo>
                <a:lnTo>
                  <a:pt x="5574453" y="0"/>
                </a:lnTo>
                <a:cubicBezTo>
                  <a:pt x="5612234" y="0"/>
                  <a:pt x="5642861" y="30628"/>
                  <a:pt x="5642861" y="68409"/>
                </a:cubicBezTo>
                <a:lnTo>
                  <a:pt x="5642861" y="3479754"/>
                </a:lnTo>
                <a:cubicBezTo>
                  <a:pt x="5642861" y="3517535"/>
                  <a:pt x="5612234" y="3548163"/>
                  <a:pt x="5574453" y="3548163"/>
                </a:cubicBezTo>
                <a:lnTo>
                  <a:pt x="68409" y="3548163"/>
                </a:lnTo>
                <a:cubicBezTo>
                  <a:pt x="30628" y="3548163"/>
                  <a:pt x="0" y="3517535"/>
                  <a:pt x="0" y="3479754"/>
                </a:cubicBezTo>
                <a:lnTo>
                  <a:pt x="0" y="68409"/>
                </a:lnTo>
                <a:cubicBezTo>
                  <a:pt x="0" y="30628"/>
                  <a:pt x="30628" y="0"/>
                  <a:pt x="68409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77141" y="1479114"/>
            <a:ext cx="5377818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Primitives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77141" y="1855304"/>
            <a:ext cx="273593" cy="273593"/>
          </a:xfrm>
          <a:custGeom>
            <a:avLst/>
            <a:gdLst/>
            <a:ahLst/>
            <a:cxnLst/>
            <a:rect l="l" t="t" r="r" b="b"/>
            <a:pathLst>
              <a:path w="273593" h="273593">
                <a:moveTo>
                  <a:pt x="34199" y="0"/>
                </a:moveTo>
                <a:lnTo>
                  <a:pt x="239394" y="0"/>
                </a:lnTo>
                <a:cubicBezTo>
                  <a:pt x="258269" y="0"/>
                  <a:pt x="273593" y="15324"/>
                  <a:pt x="273593" y="34199"/>
                </a:cubicBezTo>
                <a:lnTo>
                  <a:pt x="273593" y="239394"/>
                </a:lnTo>
                <a:cubicBezTo>
                  <a:pt x="273593" y="258269"/>
                  <a:pt x="258269" y="273593"/>
                  <a:pt x="239394" y="273593"/>
                </a:cubicBezTo>
                <a:lnTo>
                  <a:pt x="34199" y="273593"/>
                </a:lnTo>
                <a:cubicBezTo>
                  <a:pt x="15324" y="273593"/>
                  <a:pt x="0" y="258269"/>
                  <a:pt x="0" y="239394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47217" y="1855304"/>
            <a:ext cx="333442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19133" y="1872404"/>
            <a:ext cx="641234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spawn/1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77141" y="2197296"/>
            <a:ext cx="5360718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a new lightweight process that runs the given function concurrently. Returns a Process ID (PID).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77141" y="2748757"/>
            <a:ext cx="5292320" cy="8550"/>
          </a:xfrm>
          <a:custGeom>
            <a:avLst/>
            <a:gdLst/>
            <a:ahLst/>
            <a:cxnLst/>
            <a:rect l="l" t="t" r="r" b="b"/>
            <a:pathLst>
              <a:path w="5292320" h="8550">
                <a:moveTo>
                  <a:pt x="0" y="0"/>
                </a:moveTo>
                <a:lnTo>
                  <a:pt x="5292320" y="0"/>
                </a:lnTo>
                <a:lnTo>
                  <a:pt x="5292320" y="8550"/>
                </a:lnTo>
                <a:lnTo>
                  <a:pt x="0" y="8550"/>
                </a:lnTo>
                <a:lnTo>
                  <a:pt x="0" y="0"/>
                </a:lnTo>
                <a:close/>
              </a:path>
            </a:pathLst>
          </a:custGeom>
          <a:solidFill>
            <a:srgbClr val="4B9F8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77141" y="2889829"/>
            <a:ext cx="273593" cy="273593"/>
          </a:xfrm>
          <a:custGeom>
            <a:avLst/>
            <a:gdLst/>
            <a:ahLst/>
            <a:cxnLst/>
            <a:rect l="l" t="t" r="r" b="b"/>
            <a:pathLst>
              <a:path w="273593" h="273593">
                <a:moveTo>
                  <a:pt x="34199" y="0"/>
                </a:moveTo>
                <a:lnTo>
                  <a:pt x="239394" y="0"/>
                </a:lnTo>
                <a:cubicBezTo>
                  <a:pt x="258269" y="0"/>
                  <a:pt x="273593" y="15324"/>
                  <a:pt x="273593" y="34199"/>
                </a:cubicBezTo>
                <a:lnTo>
                  <a:pt x="273593" y="239394"/>
                </a:lnTo>
                <a:cubicBezTo>
                  <a:pt x="273593" y="258269"/>
                  <a:pt x="258269" y="273593"/>
                  <a:pt x="239394" y="273593"/>
                </a:cubicBezTo>
                <a:lnTo>
                  <a:pt x="34199" y="273593"/>
                </a:lnTo>
                <a:cubicBezTo>
                  <a:pt x="15324" y="273593"/>
                  <a:pt x="0" y="258269"/>
                  <a:pt x="0" y="239394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47217" y="2889829"/>
            <a:ext cx="333442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19133" y="2906928"/>
            <a:ext cx="555736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send/2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77141" y="3231820"/>
            <a:ext cx="5360718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Sends an asynchronous message to a process. The sender continues immediately—no blocking.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77141" y="3783282"/>
            <a:ext cx="5292320" cy="8550"/>
          </a:xfrm>
          <a:custGeom>
            <a:avLst/>
            <a:gdLst/>
            <a:ahLst/>
            <a:cxnLst/>
            <a:rect l="l" t="t" r="r" b="b"/>
            <a:pathLst>
              <a:path w="5292320" h="8550">
                <a:moveTo>
                  <a:pt x="0" y="0"/>
                </a:moveTo>
                <a:lnTo>
                  <a:pt x="5292320" y="0"/>
                </a:lnTo>
                <a:lnTo>
                  <a:pt x="5292320" y="8550"/>
                </a:lnTo>
                <a:lnTo>
                  <a:pt x="0" y="8550"/>
                </a:lnTo>
                <a:lnTo>
                  <a:pt x="0" y="0"/>
                </a:lnTo>
                <a:close/>
              </a:path>
            </a:pathLst>
          </a:custGeom>
          <a:solidFill>
            <a:srgbClr val="4B9F8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77141" y="3924353"/>
            <a:ext cx="273593" cy="273593"/>
          </a:xfrm>
          <a:custGeom>
            <a:avLst/>
            <a:gdLst/>
            <a:ahLst/>
            <a:cxnLst/>
            <a:rect l="l" t="t" r="r" b="b"/>
            <a:pathLst>
              <a:path w="273593" h="273593">
                <a:moveTo>
                  <a:pt x="34199" y="0"/>
                </a:moveTo>
                <a:lnTo>
                  <a:pt x="239394" y="0"/>
                </a:lnTo>
                <a:cubicBezTo>
                  <a:pt x="258269" y="0"/>
                  <a:pt x="273593" y="15324"/>
                  <a:pt x="273593" y="34199"/>
                </a:cubicBezTo>
                <a:lnTo>
                  <a:pt x="273593" y="239394"/>
                </a:lnTo>
                <a:cubicBezTo>
                  <a:pt x="273593" y="258269"/>
                  <a:pt x="258269" y="273593"/>
                  <a:pt x="239394" y="273593"/>
                </a:cubicBezTo>
                <a:lnTo>
                  <a:pt x="34199" y="273593"/>
                </a:lnTo>
                <a:cubicBezTo>
                  <a:pt x="15324" y="273593"/>
                  <a:pt x="0" y="258269"/>
                  <a:pt x="0" y="239394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47217" y="3924353"/>
            <a:ext cx="333442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19133" y="3941453"/>
            <a:ext cx="572836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receive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77141" y="4266345"/>
            <a:ext cx="5360718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Blocks until a matching message arrives in the process's mailbox. Uses pattern matching to select messages.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01870" y="4997352"/>
            <a:ext cx="5642861" cy="1068724"/>
          </a:xfrm>
          <a:custGeom>
            <a:avLst/>
            <a:gdLst/>
            <a:ahLst/>
            <a:cxnLst/>
            <a:rect l="l" t="t" r="r" b="b"/>
            <a:pathLst>
              <a:path w="5642861" h="1068724">
                <a:moveTo>
                  <a:pt x="68398" y="0"/>
                </a:moveTo>
                <a:lnTo>
                  <a:pt x="5574463" y="0"/>
                </a:lnTo>
                <a:cubicBezTo>
                  <a:pt x="5612238" y="0"/>
                  <a:pt x="5642861" y="30623"/>
                  <a:pt x="5642861" y="68398"/>
                </a:cubicBezTo>
                <a:lnTo>
                  <a:pt x="5642861" y="1000325"/>
                </a:lnTo>
                <a:cubicBezTo>
                  <a:pt x="5642861" y="1038101"/>
                  <a:pt x="5612238" y="1068724"/>
                  <a:pt x="5574463" y="1068724"/>
                </a:cubicBezTo>
                <a:lnTo>
                  <a:pt x="68398" y="1068724"/>
                </a:lnTo>
                <a:cubicBezTo>
                  <a:pt x="30623" y="1068724"/>
                  <a:pt x="0" y="1038101"/>
                  <a:pt x="0" y="1000325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42942" y="5138424"/>
            <a:ext cx="5437666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Isolation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42942" y="5480415"/>
            <a:ext cx="5429116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process has its own memory heap and mailbox. A crash in one process cannot corrupt another's state. This is the foundation of fault tolerance.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0" cy="222250"/>
          </a:xfrm>
          <a:custGeom>
            <a:avLst/>
            <a:gdLst/>
            <a:ahLst/>
            <a:cxnLst/>
            <a:rect l="l" t="t" r="r" b="b"/>
            <a:pathLst>
              <a:path w="317500" h="222250">
                <a:moveTo>
                  <a:pt x="31751" y="0"/>
                </a:moveTo>
                <a:lnTo>
                  <a:pt x="285749" y="0"/>
                </a:lnTo>
                <a:cubicBezTo>
                  <a:pt x="303285" y="0"/>
                  <a:pt x="317500" y="14215"/>
                  <a:pt x="317500" y="31751"/>
                </a:cubicBezTo>
                <a:lnTo>
                  <a:pt x="317500" y="190499"/>
                </a:lnTo>
                <a:cubicBezTo>
                  <a:pt x="317500" y="208035"/>
                  <a:pt x="303285" y="222250"/>
                  <a:pt x="28574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17500" y="41275"/>
            <a:ext cx="3730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862" y="57150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Examples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3270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Supervision Concept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644525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1469" y="734219"/>
            <a:ext cx="6850063" cy="2865438"/>
          </a:xfrm>
          <a:custGeom>
            <a:avLst/>
            <a:gdLst/>
            <a:ahLst/>
            <a:cxnLst/>
            <a:rect l="l" t="t" r="r" b="b"/>
            <a:pathLst>
              <a:path w="6850063" h="2865438">
                <a:moveTo>
                  <a:pt x="63498" y="0"/>
                </a:moveTo>
                <a:lnTo>
                  <a:pt x="6786564" y="0"/>
                </a:lnTo>
                <a:cubicBezTo>
                  <a:pt x="6821633" y="0"/>
                  <a:pt x="6850063" y="28429"/>
                  <a:pt x="6850063" y="63498"/>
                </a:cubicBezTo>
                <a:lnTo>
                  <a:pt x="6850063" y="2801939"/>
                </a:lnTo>
                <a:cubicBezTo>
                  <a:pt x="6850063" y="2837008"/>
                  <a:pt x="6821633" y="2865438"/>
                  <a:pt x="6786564" y="2865438"/>
                </a:cubicBezTo>
                <a:lnTo>
                  <a:pt x="63498" y="2865438"/>
                </a:lnTo>
                <a:cubicBezTo>
                  <a:pt x="28429" y="2865438"/>
                  <a:pt x="0" y="2837008"/>
                  <a:pt x="0" y="2801939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2438" y="865188"/>
            <a:ext cx="6651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A simple GenServer (stateful process)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438" y="1095375"/>
            <a:ext cx="7494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defmodule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4562" y="1095375"/>
            <a:ext cx="59698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4261" y="1095375"/>
            <a:ext cx="2159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438" y="1301750"/>
            <a:ext cx="29213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4287" y="1301750"/>
            <a:ext cx="7494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GenServer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1547812"/>
            <a:ext cx="6524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Client API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438" y="1754188"/>
            <a:ext cx="6524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start_link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initial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</a:t>
            </a: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6438" y="1960563"/>
            <a:ext cx="6397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GenServer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start_link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__MODULE__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initial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9438" y="2190750"/>
            <a:ext cx="29213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9438" y="2436813"/>
            <a:ext cx="6524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Server callbacks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9438" y="2643188"/>
            <a:ext cx="6524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init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initial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</a:t>
            </a: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6438" y="2849563"/>
            <a:ext cx="6397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:ok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initial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9438" y="3079750"/>
            <a:ext cx="29213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438" y="3286125"/>
            <a:ext cx="29213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1469" y="3706019"/>
            <a:ext cx="6850063" cy="3071813"/>
          </a:xfrm>
          <a:custGeom>
            <a:avLst/>
            <a:gdLst/>
            <a:ahLst/>
            <a:cxnLst/>
            <a:rect l="l" t="t" r="r" b="b"/>
            <a:pathLst>
              <a:path w="6850063" h="3071813">
                <a:moveTo>
                  <a:pt x="63494" y="0"/>
                </a:moveTo>
                <a:lnTo>
                  <a:pt x="6786568" y="0"/>
                </a:lnTo>
                <a:cubicBezTo>
                  <a:pt x="6821635" y="0"/>
                  <a:pt x="6850063" y="28427"/>
                  <a:pt x="6850063" y="63494"/>
                </a:cubicBezTo>
                <a:lnTo>
                  <a:pt x="6850063" y="3008318"/>
                </a:lnTo>
                <a:cubicBezTo>
                  <a:pt x="6850063" y="3043385"/>
                  <a:pt x="6821635" y="3071812"/>
                  <a:pt x="6786568" y="3071813"/>
                </a:cubicBezTo>
                <a:lnTo>
                  <a:pt x="63494" y="3071813"/>
                </a:lnTo>
                <a:cubicBezTo>
                  <a:pt x="28427" y="3071813"/>
                  <a:pt x="0" y="3043385"/>
                  <a:pt x="0" y="3008318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2438" y="3817938"/>
            <a:ext cx="6651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Supervisor that monitors the Counter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2438" y="4048125"/>
            <a:ext cx="7494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defmodule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4562" y="4048125"/>
            <a:ext cx="143532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Counter.Supervisor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62597" y="4048125"/>
            <a:ext cx="2159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9438" y="4254500"/>
            <a:ext cx="29213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4287" y="4254500"/>
            <a:ext cx="82562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9438" y="4500563"/>
            <a:ext cx="6524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start_link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init_arg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</a:t>
            </a: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6438" y="4706938"/>
            <a:ext cx="6397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Supervisor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start_link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__MODULE__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init_arg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9438" y="4937125"/>
            <a:ext cx="29213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9438" y="5183188"/>
            <a:ext cx="6524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init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_init_arg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</a:t>
            </a: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6438" y="5389563"/>
            <a:ext cx="6397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children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[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3438" y="5595938"/>
            <a:ext cx="6270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Counter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 </a:t>
            </a:r>
            <a:r>
              <a:rPr lang="en-US" sz="1000" dirty="0">
                <a:solidFill>
                  <a:srgbClr val="5C67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Start Counter with initial value 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6438" y="5802313"/>
            <a:ext cx="6397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6438" y="6008688"/>
            <a:ext cx="6397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Supervisor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init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children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strategy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000" dirty="0">
                <a:solidFill>
                  <a:srgbClr val="4B9F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:one_for_one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9438" y="6238875"/>
            <a:ext cx="29213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2438" y="6445250"/>
            <a:ext cx="29213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69969" y="1210469"/>
            <a:ext cx="4500563" cy="1912938"/>
          </a:xfrm>
          <a:custGeom>
            <a:avLst/>
            <a:gdLst/>
            <a:ahLst/>
            <a:cxnLst/>
            <a:rect l="l" t="t" r="r" b="b"/>
            <a:pathLst>
              <a:path w="4500563" h="1912938">
                <a:moveTo>
                  <a:pt x="63510" y="0"/>
                </a:moveTo>
                <a:lnTo>
                  <a:pt x="4437053" y="0"/>
                </a:lnTo>
                <a:cubicBezTo>
                  <a:pt x="4472128" y="0"/>
                  <a:pt x="4500563" y="28434"/>
                  <a:pt x="4500563" y="63510"/>
                </a:cubicBezTo>
                <a:lnTo>
                  <a:pt x="4500563" y="1849428"/>
                </a:lnTo>
                <a:cubicBezTo>
                  <a:pt x="4500563" y="1884503"/>
                  <a:pt x="4472128" y="1912938"/>
                  <a:pt x="4437053" y="1912938"/>
                </a:cubicBezTo>
                <a:lnTo>
                  <a:pt x="63510" y="1912938"/>
                </a:lnTo>
                <a:cubicBezTo>
                  <a:pt x="28434" y="1912938"/>
                  <a:pt x="0" y="1884503"/>
                  <a:pt x="0" y="1849428"/>
                </a:cubicBezTo>
                <a:lnTo>
                  <a:pt x="0" y="63510"/>
                </a:lnTo>
                <a:cubicBezTo>
                  <a:pt x="0" y="28458"/>
                  <a:pt x="28458" y="0"/>
                  <a:pt x="63510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32687" y="1373188"/>
            <a:ext cx="4254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GenServer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532687" y="1722438"/>
            <a:ext cx="4238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r>
              <a:rPr lang="en-US" sz="10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GenServer</a:t>
            </a:r>
            <a:r>
              <a:rPr lang="en-US" sz="10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(Generic Server) is an OTP behavior for building stateful processes. It abstracts away the receive loop and message handling.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56500" y="22939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54938" y="2262188"/>
            <a:ext cx="112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init/1: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Initialize state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56500" y="25479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54938" y="2516188"/>
            <a:ext cx="208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handle_call/3: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Synchronous requests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56500" y="28019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54938" y="2770188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handle_cast/2:</a:t>
            </a: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Asynchronous requests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69969" y="3258344"/>
            <a:ext cx="4500563" cy="1817688"/>
          </a:xfrm>
          <a:custGeom>
            <a:avLst/>
            <a:gdLst/>
            <a:ahLst/>
            <a:cxnLst/>
            <a:rect l="l" t="t" r="r" b="b"/>
            <a:pathLst>
              <a:path w="4500563" h="1817688">
                <a:moveTo>
                  <a:pt x="63492" y="0"/>
                </a:moveTo>
                <a:lnTo>
                  <a:pt x="4437071" y="0"/>
                </a:lnTo>
                <a:cubicBezTo>
                  <a:pt x="4472136" y="0"/>
                  <a:pt x="4500563" y="28426"/>
                  <a:pt x="4500563" y="63492"/>
                </a:cubicBezTo>
                <a:lnTo>
                  <a:pt x="4500563" y="1754196"/>
                </a:lnTo>
                <a:cubicBezTo>
                  <a:pt x="4500563" y="1789261"/>
                  <a:pt x="4472136" y="1817688"/>
                  <a:pt x="4437071" y="1817688"/>
                </a:cubicBezTo>
                <a:lnTo>
                  <a:pt x="63492" y="1817688"/>
                </a:lnTo>
                <a:cubicBezTo>
                  <a:pt x="28426" y="1817688"/>
                  <a:pt x="0" y="1789261"/>
                  <a:pt x="0" y="1754196"/>
                </a:cubicBezTo>
                <a:lnTo>
                  <a:pt x="0" y="63492"/>
                </a:lnTo>
                <a:cubicBezTo>
                  <a:pt x="0" y="28426"/>
                  <a:pt x="28426" y="0"/>
                  <a:pt x="63492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532687" y="3421063"/>
            <a:ext cx="4254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532687" y="3770313"/>
            <a:ext cx="4238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supervisor monitors child processes and restarts them according to the configured strategy if they crash.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32687" y="4310063"/>
            <a:ext cx="4175125" cy="603250"/>
          </a:xfrm>
          <a:custGeom>
            <a:avLst/>
            <a:gdLst/>
            <a:ahLst/>
            <a:cxnLst/>
            <a:rect l="l" t="t" r="r" b="b"/>
            <a:pathLst>
              <a:path w="4175125" h="603250">
                <a:moveTo>
                  <a:pt x="31749" y="0"/>
                </a:moveTo>
                <a:lnTo>
                  <a:pt x="4143376" y="0"/>
                </a:lnTo>
                <a:cubicBezTo>
                  <a:pt x="4160910" y="0"/>
                  <a:pt x="4175125" y="14215"/>
                  <a:pt x="4175125" y="31749"/>
                </a:cubicBezTo>
                <a:lnTo>
                  <a:pt x="4175125" y="571501"/>
                </a:lnTo>
                <a:cubicBezTo>
                  <a:pt x="4175125" y="589035"/>
                  <a:pt x="4160910" y="603250"/>
                  <a:pt x="4143376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627938" y="4405313"/>
            <a:ext cx="404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:one_for_one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627938" y="4627563"/>
            <a:ext cx="404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the crashed child is restarted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369969" y="5210969"/>
            <a:ext cx="4500563" cy="642938"/>
          </a:xfrm>
          <a:custGeom>
            <a:avLst/>
            <a:gdLst/>
            <a:ahLst/>
            <a:cxnLst/>
            <a:rect l="l" t="t" r="r" b="b"/>
            <a:pathLst>
              <a:path w="4500563" h="642938">
                <a:moveTo>
                  <a:pt x="63503" y="0"/>
                </a:moveTo>
                <a:lnTo>
                  <a:pt x="4437060" y="0"/>
                </a:lnTo>
                <a:cubicBezTo>
                  <a:pt x="4472131" y="0"/>
                  <a:pt x="4500563" y="28431"/>
                  <a:pt x="4500563" y="63503"/>
                </a:cubicBezTo>
                <a:lnTo>
                  <a:pt x="4500563" y="579435"/>
                </a:lnTo>
                <a:cubicBezTo>
                  <a:pt x="4500563" y="614506"/>
                  <a:pt x="4472131" y="642938"/>
                  <a:pt x="4437060" y="642938"/>
                </a:cubicBezTo>
                <a:lnTo>
                  <a:pt x="63503" y="642938"/>
                </a:lnTo>
                <a:cubicBezTo>
                  <a:pt x="28431" y="642938"/>
                  <a:pt x="0" y="614506"/>
                  <a:pt x="0" y="579435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516813" y="5369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8847" y="3026"/>
                </a:moveTo>
                <a:lnTo>
                  <a:pt x="76969" y="24904"/>
                </a:lnTo>
                <a:lnTo>
                  <a:pt x="102096" y="50031"/>
                </a:lnTo>
                <a:lnTo>
                  <a:pt x="123974" y="28153"/>
                </a:lnTo>
                <a:cubicBezTo>
                  <a:pt x="125909" y="26194"/>
                  <a:pt x="127000" y="23564"/>
                  <a:pt x="127000" y="20836"/>
                </a:cubicBezTo>
                <a:cubicBezTo>
                  <a:pt x="127000" y="18107"/>
                  <a:pt x="125909" y="15478"/>
                  <a:pt x="123974" y="13519"/>
                </a:cubicBezTo>
                <a:lnTo>
                  <a:pt x="113481" y="3026"/>
                </a:lnTo>
                <a:cubicBezTo>
                  <a:pt x="111522" y="1091"/>
                  <a:pt x="108893" y="0"/>
                  <a:pt x="106164" y="0"/>
                </a:cubicBezTo>
                <a:cubicBezTo>
                  <a:pt x="103436" y="0"/>
                  <a:pt x="100806" y="1091"/>
                  <a:pt x="98847" y="3026"/>
                </a:cubicBezTo>
                <a:close/>
                <a:moveTo>
                  <a:pt x="68560" y="33313"/>
                </a:moveTo>
                <a:lnTo>
                  <a:pt x="3026" y="98847"/>
                </a:lnTo>
                <a:cubicBezTo>
                  <a:pt x="1091" y="100806"/>
                  <a:pt x="0" y="103436"/>
                  <a:pt x="0" y="106164"/>
                </a:cubicBezTo>
                <a:cubicBezTo>
                  <a:pt x="0" y="108893"/>
                  <a:pt x="1091" y="111522"/>
                  <a:pt x="3026" y="113481"/>
                </a:cubicBezTo>
                <a:lnTo>
                  <a:pt x="13519" y="123974"/>
                </a:lnTo>
                <a:cubicBezTo>
                  <a:pt x="15478" y="125909"/>
                  <a:pt x="18107" y="127000"/>
                  <a:pt x="20836" y="127000"/>
                </a:cubicBezTo>
                <a:cubicBezTo>
                  <a:pt x="23564" y="127000"/>
                  <a:pt x="26194" y="125909"/>
                  <a:pt x="28153" y="123974"/>
                </a:cubicBezTo>
                <a:lnTo>
                  <a:pt x="93687" y="58440"/>
                </a:lnTo>
                <a:lnTo>
                  <a:pt x="68560" y="33313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699375" y="5341938"/>
            <a:ext cx="4103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Declarative:</a:t>
            </a:r>
            <a:r>
              <a:rPr lang="en-US" sz="10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describe the desired state, OTP handles the complexity of process management.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90525" cy="266700"/>
          </a:xfrm>
          <a:custGeom>
            <a:avLst/>
            <a:gdLst/>
            <a:ahLst/>
            <a:cxnLst/>
            <a:rect l="l" t="t" r="r" b="b"/>
            <a:pathLst>
              <a:path w="390525" h="266700">
                <a:moveTo>
                  <a:pt x="38101" y="0"/>
                </a:moveTo>
                <a:lnTo>
                  <a:pt x="352424" y="0"/>
                </a:lnTo>
                <a:cubicBezTo>
                  <a:pt x="373467" y="0"/>
                  <a:pt x="390525" y="17058"/>
                  <a:pt x="390525" y="38101"/>
                </a:cubicBezTo>
                <a:lnTo>
                  <a:pt x="390525" y="228599"/>
                </a:lnTo>
                <a:cubicBezTo>
                  <a:pt x="390525" y="249642"/>
                  <a:pt x="373467" y="266700"/>
                  <a:pt x="3524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57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2253" y="40005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Adoption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Companies Using Elixir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5763" y="1452563"/>
            <a:ext cx="5610225" cy="1457325"/>
          </a:xfrm>
          <a:custGeom>
            <a:avLst/>
            <a:gdLst/>
            <a:ahLst/>
            <a:cxnLst/>
            <a:rect l="l" t="t" r="r" b="b"/>
            <a:pathLst>
              <a:path w="5610225" h="1457325">
                <a:moveTo>
                  <a:pt x="76204" y="0"/>
                </a:moveTo>
                <a:lnTo>
                  <a:pt x="5534021" y="0"/>
                </a:lnTo>
                <a:cubicBezTo>
                  <a:pt x="5576108" y="0"/>
                  <a:pt x="5610225" y="34117"/>
                  <a:pt x="5610225" y="76204"/>
                </a:cubicBezTo>
                <a:lnTo>
                  <a:pt x="5610225" y="1381121"/>
                </a:lnTo>
                <a:cubicBezTo>
                  <a:pt x="5610225" y="1423208"/>
                  <a:pt x="5576108" y="1457325"/>
                  <a:pt x="553402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292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86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1038" y="17621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9894" y="31165"/>
                </a:moveTo>
                <a:cubicBezTo>
                  <a:pt x="219804" y="31031"/>
                  <a:pt x="219715" y="30897"/>
                  <a:pt x="219536" y="30852"/>
                </a:cubicBezTo>
                <a:cubicBezTo>
                  <a:pt x="202525" y="23039"/>
                  <a:pt x="184532" y="17458"/>
                  <a:pt x="166092" y="14287"/>
                </a:cubicBezTo>
                <a:cubicBezTo>
                  <a:pt x="165914" y="14243"/>
                  <a:pt x="165735" y="14287"/>
                  <a:pt x="165601" y="14332"/>
                </a:cubicBezTo>
                <a:cubicBezTo>
                  <a:pt x="165467" y="14377"/>
                  <a:pt x="165333" y="14511"/>
                  <a:pt x="165244" y="14689"/>
                </a:cubicBezTo>
                <a:cubicBezTo>
                  <a:pt x="162788" y="19110"/>
                  <a:pt x="160556" y="23708"/>
                  <a:pt x="158591" y="28352"/>
                </a:cubicBezTo>
                <a:cubicBezTo>
                  <a:pt x="138678" y="25316"/>
                  <a:pt x="118452" y="25316"/>
                  <a:pt x="98584" y="28352"/>
                </a:cubicBezTo>
                <a:cubicBezTo>
                  <a:pt x="96575" y="23664"/>
                  <a:pt x="94342" y="19110"/>
                  <a:pt x="91842" y="14689"/>
                </a:cubicBezTo>
                <a:cubicBezTo>
                  <a:pt x="91753" y="14555"/>
                  <a:pt x="91619" y="14421"/>
                  <a:pt x="91485" y="14332"/>
                </a:cubicBezTo>
                <a:cubicBezTo>
                  <a:pt x="91351" y="14243"/>
                  <a:pt x="91172" y="14243"/>
                  <a:pt x="90994" y="14243"/>
                </a:cubicBezTo>
                <a:cubicBezTo>
                  <a:pt x="72554" y="17413"/>
                  <a:pt x="54560" y="22994"/>
                  <a:pt x="37549" y="30807"/>
                </a:cubicBezTo>
                <a:cubicBezTo>
                  <a:pt x="37415" y="30852"/>
                  <a:pt x="37281" y="30986"/>
                  <a:pt x="37192" y="31120"/>
                </a:cubicBezTo>
                <a:cubicBezTo>
                  <a:pt x="3170" y="81930"/>
                  <a:pt x="-6161" y="131534"/>
                  <a:pt x="-1607" y="180469"/>
                </a:cubicBezTo>
                <a:cubicBezTo>
                  <a:pt x="-1607" y="180603"/>
                  <a:pt x="-1563" y="180692"/>
                  <a:pt x="-1518" y="180826"/>
                </a:cubicBezTo>
                <a:cubicBezTo>
                  <a:pt x="-1473" y="180960"/>
                  <a:pt x="-1384" y="181005"/>
                  <a:pt x="-1295" y="181094"/>
                </a:cubicBezTo>
                <a:cubicBezTo>
                  <a:pt x="18529" y="195783"/>
                  <a:pt x="40675" y="206990"/>
                  <a:pt x="64249" y="214223"/>
                </a:cubicBezTo>
                <a:cubicBezTo>
                  <a:pt x="64428" y="214268"/>
                  <a:pt x="64606" y="214268"/>
                  <a:pt x="64740" y="214223"/>
                </a:cubicBezTo>
                <a:cubicBezTo>
                  <a:pt x="64874" y="214179"/>
                  <a:pt x="65053" y="214045"/>
                  <a:pt x="65142" y="213911"/>
                </a:cubicBezTo>
                <a:cubicBezTo>
                  <a:pt x="70187" y="207035"/>
                  <a:pt x="74697" y="199712"/>
                  <a:pt x="78537" y="192122"/>
                </a:cubicBezTo>
                <a:cubicBezTo>
                  <a:pt x="78581" y="192033"/>
                  <a:pt x="78626" y="191899"/>
                  <a:pt x="78626" y="191765"/>
                </a:cubicBezTo>
                <a:cubicBezTo>
                  <a:pt x="78626" y="191631"/>
                  <a:pt x="78626" y="191542"/>
                  <a:pt x="78581" y="191408"/>
                </a:cubicBezTo>
                <a:cubicBezTo>
                  <a:pt x="78537" y="191274"/>
                  <a:pt x="78492" y="191185"/>
                  <a:pt x="78403" y="191140"/>
                </a:cubicBezTo>
                <a:cubicBezTo>
                  <a:pt x="78313" y="191095"/>
                  <a:pt x="78224" y="191006"/>
                  <a:pt x="78090" y="190961"/>
                </a:cubicBezTo>
                <a:cubicBezTo>
                  <a:pt x="71036" y="188238"/>
                  <a:pt x="64160" y="184978"/>
                  <a:pt x="57596" y="181183"/>
                </a:cubicBezTo>
                <a:cubicBezTo>
                  <a:pt x="57463" y="181094"/>
                  <a:pt x="57373" y="181005"/>
                  <a:pt x="57284" y="180915"/>
                </a:cubicBezTo>
                <a:cubicBezTo>
                  <a:pt x="57195" y="180826"/>
                  <a:pt x="57150" y="180648"/>
                  <a:pt x="57150" y="180514"/>
                </a:cubicBezTo>
                <a:cubicBezTo>
                  <a:pt x="57150" y="180380"/>
                  <a:pt x="57150" y="180246"/>
                  <a:pt x="57239" y="180112"/>
                </a:cubicBezTo>
                <a:cubicBezTo>
                  <a:pt x="57329" y="179978"/>
                  <a:pt x="57373" y="179889"/>
                  <a:pt x="57507" y="179799"/>
                </a:cubicBezTo>
                <a:cubicBezTo>
                  <a:pt x="58891" y="178772"/>
                  <a:pt x="60275" y="177701"/>
                  <a:pt x="61570" y="176629"/>
                </a:cubicBezTo>
                <a:cubicBezTo>
                  <a:pt x="61704" y="176540"/>
                  <a:pt x="61838" y="176451"/>
                  <a:pt x="61972" y="176451"/>
                </a:cubicBezTo>
                <a:cubicBezTo>
                  <a:pt x="62106" y="176451"/>
                  <a:pt x="62285" y="176451"/>
                  <a:pt x="62419" y="176495"/>
                </a:cubicBezTo>
                <a:cubicBezTo>
                  <a:pt x="105370" y="196096"/>
                  <a:pt x="151894" y="196096"/>
                  <a:pt x="194355" y="176495"/>
                </a:cubicBezTo>
                <a:cubicBezTo>
                  <a:pt x="194489" y="176451"/>
                  <a:pt x="194667" y="176406"/>
                  <a:pt x="194801" y="176406"/>
                </a:cubicBezTo>
                <a:cubicBezTo>
                  <a:pt x="194935" y="176406"/>
                  <a:pt x="195114" y="176495"/>
                  <a:pt x="195203" y="176585"/>
                </a:cubicBezTo>
                <a:cubicBezTo>
                  <a:pt x="196498" y="177656"/>
                  <a:pt x="197882" y="178772"/>
                  <a:pt x="199266" y="179799"/>
                </a:cubicBezTo>
                <a:cubicBezTo>
                  <a:pt x="199355" y="179889"/>
                  <a:pt x="199445" y="179978"/>
                  <a:pt x="199534" y="180112"/>
                </a:cubicBezTo>
                <a:cubicBezTo>
                  <a:pt x="199623" y="180246"/>
                  <a:pt x="199623" y="180380"/>
                  <a:pt x="199623" y="180514"/>
                </a:cubicBezTo>
                <a:cubicBezTo>
                  <a:pt x="199623" y="180648"/>
                  <a:pt x="199579" y="180782"/>
                  <a:pt x="199489" y="180915"/>
                </a:cubicBezTo>
                <a:cubicBezTo>
                  <a:pt x="199400" y="181049"/>
                  <a:pt x="199311" y="181139"/>
                  <a:pt x="199221" y="181183"/>
                </a:cubicBezTo>
                <a:cubicBezTo>
                  <a:pt x="192658" y="185023"/>
                  <a:pt x="185827" y="188282"/>
                  <a:pt x="178728" y="190917"/>
                </a:cubicBezTo>
                <a:cubicBezTo>
                  <a:pt x="178638" y="190961"/>
                  <a:pt x="178504" y="191006"/>
                  <a:pt x="178415" y="191095"/>
                </a:cubicBezTo>
                <a:cubicBezTo>
                  <a:pt x="178326" y="191185"/>
                  <a:pt x="178281" y="191274"/>
                  <a:pt x="178237" y="191408"/>
                </a:cubicBezTo>
                <a:cubicBezTo>
                  <a:pt x="178192" y="191542"/>
                  <a:pt x="178192" y="191631"/>
                  <a:pt x="178192" y="191765"/>
                </a:cubicBezTo>
                <a:cubicBezTo>
                  <a:pt x="178192" y="191899"/>
                  <a:pt x="178237" y="191988"/>
                  <a:pt x="178281" y="192122"/>
                </a:cubicBezTo>
                <a:cubicBezTo>
                  <a:pt x="182210" y="199712"/>
                  <a:pt x="186675" y="206990"/>
                  <a:pt x="191676" y="213911"/>
                </a:cubicBezTo>
                <a:cubicBezTo>
                  <a:pt x="191765" y="214045"/>
                  <a:pt x="191944" y="214179"/>
                  <a:pt x="192078" y="214223"/>
                </a:cubicBezTo>
                <a:cubicBezTo>
                  <a:pt x="192212" y="214268"/>
                  <a:pt x="192435" y="214268"/>
                  <a:pt x="192569" y="214223"/>
                </a:cubicBezTo>
                <a:cubicBezTo>
                  <a:pt x="216188" y="206990"/>
                  <a:pt x="238378" y="195783"/>
                  <a:pt x="258247" y="181094"/>
                </a:cubicBezTo>
                <a:cubicBezTo>
                  <a:pt x="258336" y="181005"/>
                  <a:pt x="258425" y="180915"/>
                  <a:pt x="258470" y="180826"/>
                </a:cubicBezTo>
                <a:cubicBezTo>
                  <a:pt x="258514" y="180737"/>
                  <a:pt x="258559" y="180603"/>
                  <a:pt x="258559" y="180469"/>
                </a:cubicBezTo>
                <a:cubicBezTo>
                  <a:pt x="264051" y="123855"/>
                  <a:pt x="249406" y="74697"/>
                  <a:pt x="219760" y="31120"/>
                </a:cubicBezTo>
                <a:close/>
                <a:moveTo>
                  <a:pt x="85055" y="150688"/>
                </a:moveTo>
                <a:cubicBezTo>
                  <a:pt x="72107" y="150688"/>
                  <a:pt x="61481" y="138812"/>
                  <a:pt x="61481" y="124257"/>
                </a:cubicBezTo>
                <a:cubicBezTo>
                  <a:pt x="61481" y="109701"/>
                  <a:pt x="71929" y="97825"/>
                  <a:pt x="85055" y="97825"/>
                </a:cubicBezTo>
                <a:cubicBezTo>
                  <a:pt x="98316" y="97825"/>
                  <a:pt x="108853" y="109791"/>
                  <a:pt x="108630" y="124257"/>
                </a:cubicBezTo>
                <a:cubicBezTo>
                  <a:pt x="108630" y="138857"/>
                  <a:pt x="98182" y="150688"/>
                  <a:pt x="85055" y="150688"/>
                </a:cubicBezTo>
                <a:close/>
                <a:moveTo>
                  <a:pt x="172298" y="150688"/>
                </a:moveTo>
                <a:cubicBezTo>
                  <a:pt x="159350" y="150688"/>
                  <a:pt x="148724" y="138812"/>
                  <a:pt x="148724" y="124257"/>
                </a:cubicBezTo>
                <a:cubicBezTo>
                  <a:pt x="148724" y="109701"/>
                  <a:pt x="159172" y="97825"/>
                  <a:pt x="172298" y="97825"/>
                </a:cubicBezTo>
                <a:cubicBezTo>
                  <a:pt x="185559" y="97825"/>
                  <a:pt x="196096" y="109791"/>
                  <a:pt x="195873" y="124257"/>
                </a:cubicBezTo>
                <a:cubicBezTo>
                  <a:pt x="195873" y="138857"/>
                  <a:pt x="185514" y="150688"/>
                  <a:pt x="172298" y="1506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28725" y="160972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8725" y="1952625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of concurrent users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real-time voice and text chat. Elixir powers their core messaging infrastructure.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47775" y="25574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76375" y="2524125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5M+ concurrent WebSocket connections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071813"/>
            <a:ext cx="5610225" cy="1457325"/>
          </a:xfrm>
          <a:custGeom>
            <a:avLst/>
            <a:gdLst/>
            <a:ahLst/>
            <a:cxnLst/>
            <a:rect l="l" t="t" r="r" b="b"/>
            <a:pathLst>
              <a:path w="5610225" h="1457325">
                <a:moveTo>
                  <a:pt x="76204" y="0"/>
                </a:moveTo>
                <a:lnTo>
                  <a:pt x="5534021" y="0"/>
                </a:lnTo>
                <a:cubicBezTo>
                  <a:pt x="5576108" y="0"/>
                  <a:pt x="5610225" y="34117"/>
                  <a:pt x="5610225" y="76204"/>
                </a:cubicBezTo>
                <a:lnTo>
                  <a:pt x="5610225" y="1381121"/>
                </a:lnTo>
                <a:cubicBezTo>
                  <a:pt x="5610225" y="1423208"/>
                  <a:pt x="5576108" y="1457325"/>
                  <a:pt x="553402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2925" y="32289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D08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5325" y="3381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5028" y="114300"/>
                </a:moveTo>
                <a:cubicBezTo>
                  <a:pt x="225028" y="175468"/>
                  <a:pt x="175468" y="225028"/>
                  <a:pt x="114300" y="225028"/>
                </a:cubicBezTo>
                <a:cubicBezTo>
                  <a:pt x="102870" y="225028"/>
                  <a:pt x="91886" y="223287"/>
                  <a:pt x="81528" y="220072"/>
                </a:cubicBezTo>
                <a:cubicBezTo>
                  <a:pt x="86038" y="212705"/>
                  <a:pt x="92779" y="200650"/>
                  <a:pt x="95280" y="191051"/>
                </a:cubicBezTo>
                <a:cubicBezTo>
                  <a:pt x="96619" y="185871"/>
                  <a:pt x="102156" y="164708"/>
                  <a:pt x="102156" y="164708"/>
                </a:cubicBezTo>
                <a:cubicBezTo>
                  <a:pt x="105772" y="171584"/>
                  <a:pt x="116309" y="177433"/>
                  <a:pt x="127516" y="177433"/>
                </a:cubicBezTo>
                <a:cubicBezTo>
                  <a:pt x="160913" y="177433"/>
                  <a:pt x="184978" y="146715"/>
                  <a:pt x="184978" y="108540"/>
                </a:cubicBezTo>
                <a:cubicBezTo>
                  <a:pt x="184978" y="71973"/>
                  <a:pt x="155109" y="44604"/>
                  <a:pt x="116711" y="44604"/>
                </a:cubicBezTo>
                <a:cubicBezTo>
                  <a:pt x="68937" y="44604"/>
                  <a:pt x="43532" y="76661"/>
                  <a:pt x="43532" y="111621"/>
                </a:cubicBezTo>
                <a:cubicBezTo>
                  <a:pt x="43532" y="127873"/>
                  <a:pt x="52194" y="148099"/>
                  <a:pt x="65990" y="154528"/>
                </a:cubicBezTo>
                <a:cubicBezTo>
                  <a:pt x="68089" y="155511"/>
                  <a:pt x="69205" y="155064"/>
                  <a:pt x="69696" y="153055"/>
                </a:cubicBezTo>
                <a:cubicBezTo>
                  <a:pt x="70053" y="151537"/>
                  <a:pt x="71929" y="143991"/>
                  <a:pt x="72777" y="140509"/>
                </a:cubicBezTo>
                <a:cubicBezTo>
                  <a:pt x="73045" y="139392"/>
                  <a:pt x="72911" y="138410"/>
                  <a:pt x="72018" y="137339"/>
                </a:cubicBezTo>
                <a:cubicBezTo>
                  <a:pt x="67508" y="131758"/>
                  <a:pt x="63847" y="121578"/>
                  <a:pt x="63847" y="112068"/>
                </a:cubicBezTo>
                <a:cubicBezTo>
                  <a:pt x="63847" y="87645"/>
                  <a:pt x="82332" y="64026"/>
                  <a:pt x="113854" y="64026"/>
                </a:cubicBezTo>
                <a:cubicBezTo>
                  <a:pt x="141044" y="64026"/>
                  <a:pt x="160109" y="82555"/>
                  <a:pt x="160109" y="109076"/>
                </a:cubicBezTo>
                <a:cubicBezTo>
                  <a:pt x="160109" y="139035"/>
                  <a:pt x="144973" y="159797"/>
                  <a:pt x="125284" y="159797"/>
                </a:cubicBezTo>
                <a:cubicBezTo>
                  <a:pt x="114434" y="159797"/>
                  <a:pt x="106263" y="150822"/>
                  <a:pt x="108898" y="139794"/>
                </a:cubicBezTo>
                <a:cubicBezTo>
                  <a:pt x="112023" y="126623"/>
                  <a:pt x="118050" y="112425"/>
                  <a:pt x="118050" y="102915"/>
                </a:cubicBezTo>
                <a:cubicBezTo>
                  <a:pt x="118050" y="94431"/>
                  <a:pt x="113496" y="87332"/>
                  <a:pt x="104031" y="87332"/>
                </a:cubicBezTo>
                <a:cubicBezTo>
                  <a:pt x="92913" y="87332"/>
                  <a:pt x="83984" y="98807"/>
                  <a:pt x="83984" y="114211"/>
                </a:cubicBezTo>
                <a:cubicBezTo>
                  <a:pt x="83984" y="124033"/>
                  <a:pt x="87288" y="130641"/>
                  <a:pt x="87288" y="130641"/>
                </a:cubicBezTo>
                <a:cubicBezTo>
                  <a:pt x="87288" y="130641"/>
                  <a:pt x="76349" y="176986"/>
                  <a:pt x="74340" y="185648"/>
                </a:cubicBezTo>
                <a:cubicBezTo>
                  <a:pt x="72107" y="195203"/>
                  <a:pt x="73000" y="208687"/>
                  <a:pt x="73938" y="217438"/>
                </a:cubicBezTo>
                <a:cubicBezTo>
                  <a:pt x="32772" y="201320"/>
                  <a:pt x="3572" y="161226"/>
                  <a:pt x="3572" y="114300"/>
                </a:cubicBezTo>
                <a:cubicBezTo>
                  <a:pt x="3572" y="53132"/>
                  <a:pt x="53132" y="3572"/>
                  <a:pt x="114300" y="3572"/>
                </a:cubicBezTo>
                <a:cubicBezTo>
                  <a:pt x="175468" y="3572"/>
                  <a:pt x="225028" y="53132"/>
                  <a:pt x="225028" y="1143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28725" y="32289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Pinterest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28725" y="3571875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from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 to 4 servers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switching to Elixir for their notification system. Saves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$2M annually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47775" y="41767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76375" y="4143375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14,000 notifications/second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5763" y="4691063"/>
            <a:ext cx="5610225" cy="1457325"/>
          </a:xfrm>
          <a:custGeom>
            <a:avLst/>
            <a:gdLst/>
            <a:ahLst/>
            <a:cxnLst/>
            <a:rect l="l" t="t" r="r" b="b"/>
            <a:pathLst>
              <a:path w="5610225" h="1457325">
                <a:moveTo>
                  <a:pt x="76204" y="0"/>
                </a:moveTo>
                <a:lnTo>
                  <a:pt x="5534021" y="0"/>
                </a:lnTo>
                <a:cubicBezTo>
                  <a:pt x="5576108" y="0"/>
                  <a:pt x="5610225" y="34117"/>
                  <a:pt x="5610225" y="76204"/>
                </a:cubicBezTo>
                <a:lnTo>
                  <a:pt x="5610225" y="1381121"/>
                </a:lnTo>
                <a:cubicBezTo>
                  <a:pt x="5610225" y="1423208"/>
                  <a:pt x="5576108" y="1457325"/>
                  <a:pt x="553402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2925" y="4848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5D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9613" y="50006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0066" y="43354"/>
                </a:moveTo>
                <a:cubicBezTo>
                  <a:pt x="151358" y="24601"/>
                  <a:pt x="126444" y="14288"/>
                  <a:pt x="99968" y="14288"/>
                </a:cubicBezTo>
                <a:cubicBezTo>
                  <a:pt x="45318" y="14288"/>
                  <a:pt x="848" y="58757"/>
                  <a:pt x="848" y="113407"/>
                </a:cubicBezTo>
                <a:cubicBezTo>
                  <a:pt x="848" y="130865"/>
                  <a:pt x="5402" y="147920"/>
                  <a:pt x="14064" y="162967"/>
                </a:cubicBezTo>
                <a:lnTo>
                  <a:pt x="0" y="214313"/>
                </a:lnTo>
                <a:lnTo>
                  <a:pt x="52551" y="200516"/>
                </a:lnTo>
                <a:cubicBezTo>
                  <a:pt x="67017" y="208419"/>
                  <a:pt x="83314" y="212571"/>
                  <a:pt x="99923" y="212571"/>
                </a:cubicBezTo>
                <a:lnTo>
                  <a:pt x="99968" y="212571"/>
                </a:lnTo>
                <a:cubicBezTo>
                  <a:pt x="154573" y="212571"/>
                  <a:pt x="200025" y="168101"/>
                  <a:pt x="200025" y="113452"/>
                </a:cubicBezTo>
                <a:cubicBezTo>
                  <a:pt x="200025" y="86975"/>
                  <a:pt x="188774" y="62106"/>
                  <a:pt x="170066" y="43354"/>
                </a:cubicBezTo>
                <a:close/>
                <a:moveTo>
                  <a:pt x="99968" y="195873"/>
                </a:moveTo>
                <a:cubicBezTo>
                  <a:pt x="85145" y="195873"/>
                  <a:pt x="70634" y="191899"/>
                  <a:pt x="57998" y="184398"/>
                </a:cubicBezTo>
                <a:lnTo>
                  <a:pt x="55007" y="182612"/>
                </a:lnTo>
                <a:lnTo>
                  <a:pt x="23842" y="190783"/>
                </a:lnTo>
                <a:lnTo>
                  <a:pt x="32147" y="160377"/>
                </a:lnTo>
                <a:lnTo>
                  <a:pt x="30182" y="157252"/>
                </a:lnTo>
                <a:cubicBezTo>
                  <a:pt x="21922" y="144125"/>
                  <a:pt x="17591" y="128989"/>
                  <a:pt x="17591" y="113407"/>
                </a:cubicBezTo>
                <a:cubicBezTo>
                  <a:pt x="17591" y="68000"/>
                  <a:pt x="54560" y="31031"/>
                  <a:pt x="100012" y="31031"/>
                </a:cubicBezTo>
                <a:cubicBezTo>
                  <a:pt x="122024" y="31031"/>
                  <a:pt x="142696" y="39603"/>
                  <a:pt x="158234" y="55185"/>
                </a:cubicBezTo>
                <a:cubicBezTo>
                  <a:pt x="173772" y="70768"/>
                  <a:pt x="183326" y="91440"/>
                  <a:pt x="183282" y="113452"/>
                </a:cubicBezTo>
                <a:cubicBezTo>
                  <a:pt x="183282" y="158904"/>
                  <a:pt x="145375" y="195873"/>
                  <a:pt x="99968" y="195873"/>
                </a:cubicBezTo>
                <a:close/>
                <a:moveTo>
                  <a:pt x="145152" y="134169"/>
                </a:moveTo>
                <a:cubicBezTo>
                  <a:pt x="142696" y="132918"/>
                  <a:pt x="130507" y="126936"/>
                  <a:pt x="128230" y="126132"/>
                </a:cubicBezTo>
                <a:cubicBezTo>
                  <a:pt x="125953" y="125284"/>
                  <a:pt x="124301" y="124882"/>
                  <a:pt x="122649" y="127382"/>
                </a:cubicBezTo>
                <a:cubicBezTo>
                  <a:pt x="120997" y="129882"/>
                  <a:pt x="116265" y="135419"/>
                  <a:pt x="114791" y="137115"/>
                </a:cubicBezTo>
                <a:cubicBezTo>
                  <a:pt x="113362" y="138767"/>
                  <a:pt x="111889" y="138991"/>
                  <a:pt x="109433" y="137740"/>
                </a:cubicBezTo>
                <a:cubicBezTo>
                  <a:pt x="94878" y="130463"/>
                  <a:pt x="85323" y="124748"/>
                  <a:pt x="75724" y="108272"/>
                </a:cubicBezTo>
                <a:cubicBezTo>
                  <a:pt x="73179" y="103897"/>
                  <a:pt x="78269" y="104209"/>
                  <a:pt x="83001" y="94744"/>
                </a:cubicBezTo>
                <a:cubicBezTo>
                  <a:pt x="83805" y="93092"/>
                  <a:pt x="83403" y="91663"/>
                  <a:pt x="82778" y="90413"/>
                </a:cubicBezTo>
                <a:cubicBezTo>
                  <a:pt x="82153" y="89163"/>
                  <a:pt x="77197" y="76974"/>
                  <a:pt x="75143" y="72018"/>
                </a:cubicBezTo>
                <a:cubicBezTo>
                  <a:pt x="73134" y="67196"/>
                  <a:pt x="71080" y="67866"/>
                  <a:pt x="69562" y="67776"/>
                </a:cubicBezTo>
                <a:cubicBezTo>
                  <a:pt x="68134" y="67687"/>
                  <a:pt x="66482" y="67687"/>
                  <a:pt x="64830" y="67687"/>
                </a:cubicBezTo>
                <a:cubicBezTo>
                  <a:pt x="63178" y="67687"/>
                  <a:pt x="60499" y="68312"/>
                  <a:pt x="58222" y="70768"/>
                </a:cubicBezTo>
                <a:cubicBezTo>
                  <a:pt x="55944" y="73268"/>
                  <a:pt x="49560" y="79251"/>
                  <a:pt x="49560" y="91440"/>
                </a:cubicBezTo>
                <a:cubicBezTo>
                  <a:pt x="49560" y="103629"/>
                  <a:pt x="58445" y="115416"/>
                  <a:pt x="59650" y="117068"/>
                </a:cubicBezTo>
                <a:cubicBezTo>
                  <a:pt x="60900" y="118720"/>
                  <a:pt x="77108" y="143723"/>
                  <a:pt x="101977" y="154484"/>
                </a:cubicBezTo>
                <a:cubicBezTo>
                  <a:pt x="117693" y="161270"/>
                  <a:pt x="123855" y="161851"/>
                  <a:pt x="131713" y="160690"/>
                </a:cubicBezTo>
                <a:cubicBezTo>
                  <a:pt x="136490" y="159975"/>
                  <a:pt x="146358" y="154707"/>
                  <a:pt x="148411" y="148903"/>
                </a:cubicBezTo>
                <a:cubicBezTo>
                  <a:pt x="150465" y="143098"/>
                  <a:pt x="150465" y="138142"/>
                  <a:pt x="149840" y="137115"/>
                </a:cubicBezTo>
                <a:cubicBezTo>
                  <a:pt x="149260" y="135999"/>
                  <a:pt x="147608" y="135374"/>
                  <a:pt x="145152" y="1341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28725" y="484822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WhatsApp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8725" y="5191125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on Erlang/BEAM.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900M users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supported by just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engineers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2015.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47775" y="57959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476375" y="5762625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2M+ connections per server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6013" y="1452563"/>
            <a:ext cx="5610225" cy="923925"/>
          </a:xfrm>
          <a:custGeom>
            <a:avLst/>
            <a:gdLst/>
            <a:ahLst/>
            <a:cxnLst/>
            <a:rect l="l" t="t" r="r" b="b"/>
            <a:pathLst>
              <a:path w="5610225" h="923925">
                <a:moveTo>
                  <a:pt x="76196" y="0"/>
                </a:moveTo>
                <a:lnTo>
                  <a:pt x="5534029" y="0"/>
                </a:lnTo>
                <a:cubicBezTo>
                  <a:pt x="5576111" y="0"/>
                  <a:pt x="5610225" y="34114"/>
                  <a:pt x="5610225" y="76196"/>
                </a:cubicBezTo>
                <a:lnTo>
                  <a:pt x="5610225" y="847729"/>
                </a:lnTo>
                <a:cubicBezTo>
                  <a:pt x="5610225" y="889811"/>
                  <a:pt x="5576111" y="923925"/>
                  <a:pt x="55340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81750" y="1628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3572"/>
                </a:moveTo>
                <a:cubicBezTo>
                  <a:pt x="53187" y="3572"/>
                  <a:pt x="3572" y="53187"/>
                  <a:pt x="3572" y="114300"/>
                </a:cubicBezTo>
                <a:cubicBezTo>
                  <a:pt x="3572" y="175413"/>
                  <a:pt x="53187" y="225028"/>
                  <a:pt x="114300" y="225028"/>
                </a:cubicBezTo>
                <a:cubicBezTo>
                  <a:pt x="175413" y="225028"/>
                  <a:pt x="225028" y="175413"/>
                  <a:pt x="225028" y="114300"/>
                </a:cubicBezTo>
                <a:cubicBezTo>
                  <a:pt x="225028" y="53187"/>
                  <a:pt x="175413" y="3572"/>
                  <a:pt x="114300" y="3572"/>
                </a:cubicBezTo>
                <a:close/>
                <a:moveTo>
                  <a:pt x="159261" y="166494"/>
                </a:moveTo>
                <a:cubicBezTo>
                  <a:pt x="157386" y="166494"/>
                  <a:pt x="156225" y="165914"/>
                  <a:pt x="154484" y="164887"/>
                </a:cubicBezTo>
                <a:cubicBezTo>
                  <a:pt x="126623" y="148099"/>
                  <a:pt x="94208" y="147384"/>
                  <a:pt x="62195" y="153948"/>
                </a:cubicBezTo>
                <a:cubicBezTo>
                  <a:pt x="60454" y="154394"/>
                  <a:pt x="58177" y="155109"/>
                  <a:pt x="56882" y="155109"/>
                </a:cubicBezTo>
                <a:cubicBezTo>
                  <a:pt x="52551" y="155109"/>
                  <a:pt x="49828" y="151671"/>
                  <a:pt x="49828" y="148054"/>
                </a:cubicBezTo>
                <a:cubicBezTo>
                  <a:pt x="49828" y="143455"/>
                  <a:pt x="52551" y="141268"/>
                  <a:pt x="55900" y="140553"/>
                </a:cubicBezTo>
                <a:cubicBezTo>
                  <a:pt x="92467" y="132472"/>
                  <a:pt x="129838" y="133186"/>
                  <a:pt x="161717" y="152251"/>
                </a:cubicBezTo>
                <a:cubicBezTo>
                  <a:pt x="164440" y="153992"/>
                  <a:pt x="166048" y="155555"/>
                  <a:pt x="166048" y="159618"/>
                </a:cubicBezTo>
                <a:cubicBezTo>
                  <a:pt x="166048" y="163681"/>
                  <a:pt x="162877" y="166494"/>
                  <a:pt x="159261" y="166494"/>
                </a:cubicBezTo>
                <a:close/>
                <a:moveTo>
                  <a:pt x="171271" y="137205"/>
                </a:moveTo>
                <a:cubicBezTo>
                  <a:pt x="168950" y="137205"/>
                  <a:pt x="167387" y="136178"/>
                  <a:pt x="165780" y="135329"/>
                </a:cubicBezTo>
                <a:cubicBezTo>
                  <a:pt x="137874" y="118809"/>
                  <a:pt x="96262" y="112157"/>
                  <a:pt x="59248" y="122203"/>
                </a:cubicBezTo>
                <a:cubicBezTo>
                  <a:pt x="57105" y="122783"/>
                  <a:pt x="55944" y="123364"/>
                  <a:pt x="53935" y="123364"/>
                </a:cubicBezTo>
                <a:cubicBezTo>
                  <a:pt x="49158" y="123364"/>
                  <a:pt x="45274" y="119479"/>
                  <a:pt x="45274" y="114702"/>
                </a:cubicBezTo>
                <a:cubicBezTo>
                  <a:pt x="45274" y="109924"/>
                  <a:pt x="47595" y="106754"/>
                  <a:pt x="52194" y="105460"/>
                </a:cubicBezTo>
                <a:cubicBezTo>
                  <a:pt x="64606" y="101977"/>
                  <a:pt x="77286" y="99387"/>
                  <a:pt x="95860" y="99387"/>
                </a:cubicBezTo>
                <a:cubicBezTo>
                  <a:pt x="124837" y="99387"/>
                  <a:pt x="152832" y="106576"/>
                  <a:pt x="174888" y="119702"/>
                </a:cubicBezTo>
                <a:cubicBezTo>
                  <a:pt x="178504" y="121846"/>
                  <a:pt x="179933" y="124614"/>
                  <a:pt x="179933" y="128498"/>
                </a:cubicBezTo>
                <a:cubicBezTo>
                  <a:pt x="179889" y="133320"/>
                  <a:pt x="176138" y="137205"/>
                  <a:pt x="171271" y="137205"/>
                </a:cubicBezTo>
                <a:close/>
                <a:moveTo>
                  <a:pt x="185112" y="103183"/>
                </a:moveTo>
                <a:cubicBezTo>
                  <a:pt x="182791" y="103183"/>
                  <a:pt x="181362" y="102602"/>
                  <a:pt x="179353" y="101441"/>
                </a:cubicBezTo>
                <a:cubicBezTo>
                  <a:pt x="147563" y="82466"/>
                  <a:pt x="90726" y="77912"/>
                  <a:pt x="53935" y="88181"/>
                </a:cubicBezTo>
                <a:cubicBezTo>
                  <a:pt x="52328" y="88627"/>
                  <a:pt x="50319" y="89342"/>
                  <a:pt x="48176" y="89342"/>
                </a:cubicBezTo>
                <a:cubicBezTo>
                  <a:pt x="42282" y="89342"/>
                  <a:pt x="37773" y="84743"/>
                  <a:pt x="37773" y="78804"/>
                </a:cubicBezTo>
                <a:cubicBezTo>
                  <a:pt x="37773" y="72732"/>
                  <a:pt x="41523" y="69294"/>
                  <a:pt x="45541" y="68134"/>
                </a:cubicBezTo>
                <a:cubicBezTo>
                  <a:pt x="61258" y="63535"/>
                  <a:pt x="78849" y="61347"/>
                  <a:pt x="98003" y="61347"/>
                </a:cubicBezTo>
                <a:cubicBezTo>
                  <a:pt x="130597" y="61347"/>
                  <a:pt x="164753" y="68134"/>
                  <a:pt x="189711" y="82689"/>
                </a:cubicBezTo>
                <a:cubicBezTo>
                  <a:pt x="193194" y="84698"/>
                  <a:pt x="195471" y="87466"/>
                  <a:pt x="195471" y="92779"/>
                </a:cubicBezTo>
                <a:cubicBezTo>
                  <a:pt x="195471" y="98852"/>
                  <a:pt x="190560" y="103183"/>
                  <a:pt x="185112" y="103183"/>
                </a:cubicBezTo>
                <a:close/>
              </a:path>
            </a:pathLst>
          </a:cu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53225" y="1609725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Spotify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3175" y="1990725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thousands of requests/second for high-traffic operations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6013" y="2538413"/>
            <a:ext cx="5610225" cy="923925"/>
          </a:xfrm>
          <a:custGeom>
            <a:avLst/>
            <a:gdLst/>
            <a:ahLst/>
            <a:cxnLst/>
            <a:rect l="l" t="t" r="r" b="b"/>
            <a:pathLst>
              <a:path w="5610225" h="923925">
                <a:moveTo>
                  <a:pt x="76196" y="0"/>
                </a:moveTo>
                <a:lnTo>
                  <a:pt x="5534029" y="0"/>
                </a:lnTo>
                <a:cubicBezTo>
                  <a:pt x="5576111" y="0"/>
                  <a:pt x="5610225" y="34114"/>
                  <a:pt x="5610225" y="76196"/>
                </a:cubicBezTo>
                <a:lnTo>
                  <a:pt x="5610225" y="847729"/>
                </a:lnTo>
                <a:cubicBezTo>
                  <a:pt x="5610225" y="889811"/>
                  <a:pt x="5576111" y="923925"/>
                  <a:pt x="55340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81750" y="2714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87345"/>
                </a:moveTo>
                <a:lnTo>
                  <a:pt x="0" y="48890"/>
                </a:lnTo>
                <a:cubicBezTo>
                  <a:pt x="0" y="38532"/>
                  <a:pt x="10760" y="31656"/>
                  <a:pt x="20672" y="34603"/>
                </a:cubicBezTo>
                <a:cubicBezTo>
                  <a:pt x="59829" y="46300"/>
                  <a:pt x="87511" y="37058"/>
                  <a:pt x="115372" y="27771"/>
                </a:cubicBezTo>
                <a:cubicBezTo>
                  <a:pt x="144170" y="18172"/>
                  <a:pt x="173147" y="8528"/>
                  <a:pt x="215072" y="21922"/>
                </a:cubicBezTo>
                <a:cubicBezTo>
                  <a:pt x="223331" y="24557"/>
                  <a:pt x="228600" y="32549"/>
                  <a:pt x="228600" y="41255"/>
                </a:cubicBezTo>
                <a:lnTo>
                  <a:pt x="228600" y="179710"/>
                </a:lnTo>
                <a:cubicBezTo>
                  <a:pt x="228600" y="190068"/>
                  <a:pt x="217840" y="196944"/>
                  <a:pt x="207972" y="193997"/>
                </a:cubicBezTo>
                <a:cubicBezTo>
                  <a:pt x="168816" y="182300"/>
                  <a:pt x="141089" y="191542"/>
                  <a:pt x="113273" y="200829"/>
                </a:cubicBezTo>
                <a:cubicBezTo>
                  <a:pt x="84475" y="210428"/>
                  <a:pt x="55498" y="220072"/>
                  <a:pt x="13573" y="206678"/>
                </a:cubicBezTo>
                <a:cubicBezTo>
                  <a:pt x="5313" y="204043"/>
                  <a:pt x="45" y="196051"/>
                  <a:pt x="45" y="187345"/>
                </a:cubicBezTo>
                <a:close/>
                <a:moveTo>
                  <a:pt x="150019" y="114300"/>
                </a:moveTo>
                <a:cubicBezTo>
                  <a:pt x="150019" y="90636"/>
                  <a:pt x="134035" y="71438"/>
                  <a:pt x="114300" y="71438"/>
                </a:cubicBezTo>
                <a:cubicBezTo>
                  <a:pt x="94565" y="71438"/>
                  <a:pt x="78581" y="90636"/>
                  <a:pt x="78581" y="114300"/>
                </a:cubicBezTo>
                <a:cubicBezTo>
                  <a:pt x="78581" y="137964"/>
                  <a:pt x="94565" y="157163"/>
                  <a:pt x="114300" y="157163"/>
                </a:cubicBezTo>
                <a:cubicBezTo>
                  <a:pt x="134035" y="157163"/>
                  <a:pt x="150019" y="137964"/>
                  <a:pt x="150019" y="114300"/>
                </a:cubicBezTo>
                <a:close/>
                <a:moveTo>
                  <a:pt x="53578" y="184666"/>
                </a:moveTo>
                <a:cubicBezTo>
                  <a:pt x="55543" y="184666"/>
                  <a:pt x="57105" y="182969"/>
                  <a:pt x="56793" y="181049"/>
                </a:cubicBezTo>
                <a:cubicBezTo>
                  <a:pt x="54739" y="168637"/>
                  <a:pt x="44738" y="158948"/>
                  <a:pt x="32147" y="157386"/>
                </a:cubicBezTo>
                <a:cubicBezTo>
                  <a:pt x="30182" y="157163"/>
                  <a:pt x="28575" y="158770"/>
                  <a:pt x="28575" y="160734"/>
                </a:cubicBezTo>
                <a:lnTo>
                  <a:pt x="28575" y="178549"/>
                </a:lnTo>
                <a:cubicBezTo>
                  <a:pt x="28575" y="180156"/>
                  <a:pt x="29647" y="181585"/>
                  <a:pt x="31254" y="181987"/>
                </a:cubicBezTo>
                <a:cubicBezTo>
                  <a:pt x="39246" y="183862"/>
                  <a:pt x="46568" y="184711"/>
                  <a:pt x="53578" y="184711"/>
                </a:cubicBezTo>
                <a:close/>
                <a:moveTo>
                  <a:pt x="195783" y="161851"/>
                </a:moveTo>
                <a:cubicBezTo>
                  <a:pt x="198016" y="162208"/>
                  <a:pt x="200025" y="160511"/>
                  <a:pt x="200025" y="158279"/>
                </a:cubicBezTo>
                <a:lnTo>
                  <a:pt x="200025" y="139258"/>
                </a:lnTo>
                <a:cubicBezTo>
                  <a:pt x="200025" y="137294"/>
                  <a:pt x="198418" y="135642"/>
                  <a:pt x="196453" y="135910"/>
                </a:cubicBezTo>
                <a:cubicBezTo>
                  <a:pt x="185202" y="137294"/>
                  <a:pt x="175959" y="145241"/>
                  <a:pt x="172700" y="155823"/>
                </a:cubicBezTo>
                <a:cubicBezTo>
                  <a:pt x="172075" y="157922"/>
                  <a:pt x="173727" y="159886"/>
                  <a:pt x="175915" y="159931"/>
                </a:cubicBezTo>
                <a:cubicBezTo>
                  <a:pt x="182255" y="160109"/>
                  <a:pt x="188863" y="160690"/>
                  <a:pt x="195739" y="161851"/>
                </a:cubicBezTo>
                <a:close/>
                <a:moveTo>
                  <a:pt x="200025" y="67866"/>
                </a:moveTo>
                <a:lnTo>
                  <a:pt x="200025" y="50051"/>
                </a:lnTo>
                <a:cubicBezTo>
                  <a:pt x="200025" y="48444"/>
                  <a:pt x="198909" y="47015"/>
                  <a:pt x="197346" y="46613"/>
                </a:cubicBezTo>
                <a:cubicBezTo>
                  <a:pt x="189354" y="44738"/>
                  <a:pt x="182032" y="43889"/>
                  <a:pt x="175022" y="43889"/>
                </a:cubicBezTo>
                <a:cubicBezTo>
                  <a:pt x="173057" y="43889"/>
                  <a:pt x="171495" y="45586"/>
                  <a:pt x="171807" y="47506"/>
                </a:cubicBezTo>
                <a:cubicBezTo>
                  <a:pt x="173861" y="59918"/>
                  <a:pt x="183862" y="69607"/>
                  <a:pt x="196453" y="71170"/>
                </a:cubicBezTo>
                <a:cubicBezTo>
                  <a:pt x="198418" y="71393"/>
                  <a:pt x="200025" y="69786"/>
                  <a:pt x="200025" y="67821"/>
                </a:cubicBezTo>
                <a:close/>
                <a:moveTo>
                  <a:pt x="55900" y="72732"/>
                </a:moveTo>
                <a:cubicBezTo>
                  <a:pt x="56525" y="70634"/>
                  <a:pt x="54873" y="68669"/>
                  <a:pt x="52685" y="68625"/>
                </a:cubicBezTo>
                <a:cubicBezTo>
                  <a:pt x="46345" y="68446"/>
                  <a:pt x="39737" y="67866"/>
                  <a:pt x="32861" y="66705"/>
                </a:cubicBezTo>
                <a:cubicBezTo>
                  <a:pt x="30629" y="66348"/>
                  <a:pt x="28620" y="68044"/>
                  <a:pt x="28620" y="70277"/>
                </a:cubicBezTo>
                <a:lnTo>
                  <a:pt x="28575" y="89297"/>
                </a:lnTo>
                <a:cubicBezTo>
                  <a:pt x="28575" y="91261"/>
                  <a:pt x="30182" y="92913"/>
                  <a:pt x="32147" y="92646"/>
                </a:cubicBezTo>
                <a:cubicBezTo>
                  <a:pt x="43398" y="91261"/>
                  <a:pt x="52641" y="83314"/>
                  <a:pt x="55900" y="72732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53225" y="2695575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PepsiCo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3175" y="3076575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workflow optimization and marketing intelligence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6013" y="3624263"/>
            <a:ext cx="5610225" cy="923925"/>
          </a:xfrm>
          <a:custGeom>
            <a:avLst/>
            <a:gdLst/>
            <a:ahLst/>
            <a:cxnLst/>
            <a:rect l="l" t="t" r="r" b="b"/>
            <a:pathLst>
              <a:path w="5610225" h="923925">
                <a:moveTo>
                  <a:pt x="76196" y="0"/>
                </a:moveTo>
                <a:lnTo>
                  <a:pt x="5534029" y="0"/>
                </a:lnTo>
                <a:cubicBezTo>
                  <a:pt x="5576111" y="0"/>
                  <a:pt x="5610225" y="34114"/>
                  <a:pt x="5610225" y="76196"/>
                </a:cubicBezTo>
                <a:lnTo>
                  <a:pt x="5610225" y="847729"/>
                </a:lnTo>
                <a:cubicBezTo>
                  <a:pt x="5610225" y="889811"/>
                  <a:pt x="5576111" y="923925"/>
                  <a:pt x="55340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81750" y="3800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85738"/>
                </a:moveTo>
                <a:lnTo>
                  <a:pt x="0" y="53578"/>
                </a:lnTo>
                <a:cubicBezTo>
                  <a:pt x="0" y="47640"/>
                  <a:pt x="4777" y="42863"/>
                  <a:pt x="10716" y="42863"/>
                </a:cubicBezTo>
                <a:cubicBezTo>
                  <a:pt x="16654" y="42863"/>
                  <a:pt x="21431" y="47640"/>
                  <a:pt x="21431" y="53578"/>
                </a:cubicBezTo>
                <a:lnTo>
                  <a:pt x="21431" y="182166"/>
                </a:lnTo>
                <a:cubicBezTo>
                  <a:pt x="21431" y="188104"/>
                  <a:pt x="26209" y="192881"/>
                  <a:pt x="32147" y="192881"/>
                </a:cubicBezTo>
                <a:cubicBezTo>
                  <a:pt x="38085" y="192881"/>
                  <a:pt x="42863" y="188104"/>
                  <a:pt x="42863" y="182166"/>
                </a:cubicBezTo>
                <a:lnTo>
                  <a:pt x="42863" y="42863"/>
                </a:lnTo>
                <a:cubicBezTo>
                  <a:pt x="42863" y="27102"/>
                  <a:pt x="55677" y="14288"/>
                  <a:pt x="71438" y="14288"/>
                </a:cubicBezTo>
                <a:lnTo>
                  <a:pt x="200025" y="14288"/>
                </a:lnTo>
                <a:cubicBezTo>
                  <a:pt x="215786" y="14288"/>
                  <a:pt x="228600" y="27102"/>
                  <a:pt x="228600" y="42863"/>
                </a:cubicBezTo>
                <a:lnTo>
                  <a:pt x="228600" y="185738"/>
                </a:lnTo>
                <a:cubicBezTo>
                  <a:pt x="228600" y="201498"/>
                  <a:pt x="215786" y="214313"/>
                  <a:pt x="200025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close/>
                <a:moveTo>
                  <a:pt x="71438" y="57150"/>
                </a:moveTo>
                <a:lnTo>
                  <a:pt x="71438" y="85725"/>
                </a:lnTo>
                <a:cubicBezTo>
                  <a:pt x="71438" y="93628"/>
                  <a:pt x="77822" y="100013"/>
                  <a:pt x="85725" y="100013"/>
                </a:cubicBezTo>
                <a:lnTo>
                  <a:pt x="114300" y="100013"/>
                </a:lnTo>
                <a:cubicBezTo>
                  <a:pt x="122203" y="100013"/>
                  <a:pt x="128588" y="93628"/>
                  <a:pt x="128588" y="85725"/>
                </a:cubicBezTo>
                <a:lnTo>
                  <a:pt x="128588" y="57150"/>
                </a:lnTo>
                <a:cubicBezTo>
                  <a:pt x="128588" y="49247"/>
                  <a:pt x="122203" y="42863"/>
                  <a:pt x="114300" y="42863"/>
                </a:cubicBezTo>
                <a:lnTo>
                  <a:pt x="85725" y="42863"/>
                </a:lnTo>
                <a:cubicBezTo>
                  <a:pt x="77822" y="42863"/>
                  <a:pt x="71438" y="49247"/>
                  <a:pt x="71438" y="57150"/>
                </a:cubicBezTo>
                <a:close/>
                <a:moveTo>
                  <a:pt x="82153" y="164306"/>
                </a:moveTo>
                <a:cubicBezTo>
                  <a:pt x="76215" y="164306"/>
                  <a:pt x="71438" y="169084"/>
                  <a:pt x="71438" y="175022"/>
                </a:cubicBezTo>
                <a:cubicBezTo>
                  <a:pt x="71438" y="180960"/>
                  <a:pt x="76215" y="185738"/>
                  <a:pt x="82153" y="185738"/>
                </a:cubicBezTo>
                <a:lnTo>
                  <a:pt x="189309" y="185738"/>
                </a:lnTo>
                <a:cubicBezTo>
                  <a:pt x="195248" y="185738"/>
                  <a:pt x="200025" y="180960"/>
                  <a:pt x="200025" y="175022"/>
                </a:cubicBezTo>
                <a:cubicBezTo>
                  <a:pt x="200025" y="169084"/>
                  <a:pt x="195248" y="164306"/>
                  <a:pt x="189309" y="164306"/>
                </a:cubicBezTo>
                <a:lnTo>
                  <a:pt x="82153" y="164306"/>
                </a:lnTo>
                <a:close/>
                <a:moveTo>
                  <a:pt x="71438" y="132159"/>
                </a:moveTo>
                <a:cubicBezTo>
                  <a:pt x="71438" y="138098"/>
                  <a:pt x="76215" y="142875"/>
                  <a:pt x="82153" y="142875"/>
                </a:cubicBezTo>
                <a:lnTo>
                  <a:pt x="189309" y="142875"/>
                </a:lnTo>
                <a:cubicBezTo>
                  <a:pt x="195248" y="142875"/>
                  <a:pt x="200025" y="138098"/>
                  <a:pt x="200025" y="132159"/>
                </a:cubicBezTo>
                <a:cubicBezTo>
                  <a:pt x="200025" y="126221"/>
                  <a:pt x="195248" y="121444"/>
                  <a:pt x="189309" y="121444"/>
                </a:cubicBezTo>
                <a:lnTo>
                  <a:pt x="82153" y="121444"/>
                </a:lnTo>
                <a:cubicBezTo>
                  <a:pt x="76215" y="121444"/>
                  <a:pt x="71438" y="126221"/>
                  <a:pt x="71438" y="132159"/>
                </a:cubicBezTo>
                <a:close/>
                <a:moveTo>
                  <a:pt x="160734" y="78581"/>
                </a:moveTo>
                <a:cubicBezTo>
                  <a:pt x="154796" y="78581"/>
                  <a:pt x="150019" y="83359"/>
                  <a:pt x="150019" y="89297"/>
                </a:cubicBezTo>
                <a:cubicBezTo>
                  <a:pt x="150019" y="95235"/>
                  <a:pt x="154796" y="100013"/>
                  <a:pt x="160734" y="100013"/>
                </a:cubicBezTo>
                <a:lnTo>
                  <a:pt x="189309" y="100013"/>
                </a:lnTo>
                <a:cubicBezTo>
                  <a:pt x="195248" y="100013"/>
                  <a:pt x="200025" y="95235"/>
                  <a:pt x="200025" y="89297"/>
                </a:cubicBezTo>
                <a:cubicBezTo>
                  <a:pt x="200025" y="83359"/>
                  <a:pt x="195248" y="78581"/>
                  <a:pt x="189309" y="78581"/>
                </a:cubicBezTo>
                <a:lnTo>
                  <a:pt x="160734" y="78581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53225" y="378142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Times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53175" y="4162425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GraphQL API for microservice coordination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6013" y="4710113"/>
            <a:ext cx="5610225" cy="923925"/>
          </a:xfrm>
          <a:custGeom>
            <a:avLst/>
            <a:gdLst/>
            <a:ahLst/>
            <a:cxnLst/>
            <a:rect l="l" t="t" r="r" b="b"/>
            <a:pathLst>
              <a:path w="5610225" h="923925">
                <a:moveTo>
                  <a:pt x="76196" y="0"/>
                </a:moveTo>
                <a:lnTo>
                  <a:pt x="5534029" y="0"/>
                </a:lnTo>
                <a:cubicBezTo>
                  <a:pt x="5576111" y="0"/>
                  <a:pt x="5610225" y="34114"/>
                  <a:pt x="5610225" y="76196"/>
                </a:cubicBezTo>
                <a:lnTo>
                  <a:pt x="5610225" y="847729"/>
                </a:lnTo>
                <a:cubicBezTo>
                  <a:pt x="5610225" y="889811"/>
                  <a:pt x="5576111" y="923925"/>
                  <a:pt x="55340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81750" y="4886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0365" y="52417"/>
                </a:moveTo>
                <a:lnTo>
                  <a:pt x="48711" y="85725"/>
                </a:lnTo>
                <a:lnTo>
                  <a:pt x="179889" y="85725"/>
                </a:lnTo>
                <a:lnTo>
                  <a:pt x="168235" y="52417"/>
                </a:lnTo>
                <a:cubicBezTo>
                  <a:pt x="166226" y="46702"/>
                  <a:pt x="160824" y="42863"/>
                  <a:pt x="154751" y="42863"/>
                </a:cubicBezTo>
                <a:lnTo>
                  <a:pt x="73849" y="42863"/>
                </a:lnTo>
                <a:cubicBezTo>
                  <a:pt x="67776" y="42863"/>
                  <a:pt x="62374" y="46702"/>
                  <a:pt x="60365" y="52417"/>
                </a:cubicBezTo>
                <a:close/>
                <a:moveTo>
                  <a:pt x="17681" y="87868"/>
                </a:moveTo>
                <a:lnTo>
                  <a:pt x="33397" y="42996"/>
                </a:lnTo>
                <a:cubicBezTo>
                  <a:pt x="39425" y="25807"/>
                  <a:pt x="55632" y="14288"/>
                  <a:pt x="73849" y="14288"/>
                </a:cubicBezTo>
                <a:lnTo>
                  <a:pt x="154751" y="14288"/>
                </a:lnTo>
                <a:cubicBezTo>
                  <a:pt x="172968" y="14288"/>
                  <a:pt x="189175" y="25807"/>
                  <a:pt x="195203" y="42996"/>
                </a:cubicBezTo>
                <a:lnTo>
                  <a:pt x="210919" y="87868"/>
                </a:lnTo>
                <a:cubicBezTo>
                  <a:pt x="221278" y="92154"/>
                  <a:pt x="228600" y="102379"/>
                  <a:pt x="228600" y="11430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200025" y="214313"/>
                </a:lnTo>
                <a:cubicBezTo>
                  <a:pt x="192122" y="214313"/>
                  <a:pt x="185738" y="207928"/>
                  <a:pt x="185738" y="200025"/>
                </a:cubicBezTo>
                <a:lnTo>
                  <a:pt x="185738" y="185738"/>
                </a:lnTo>
                <a:lnTo>
                  <a:pt x="42863" y="185738"/>
                </a:lnTo>
                <a:lnTo>
                  <a:pt x="42863" y="200025"/>
                </a:lnTo>
                <a:cubicBezTo>
                  <a:pt x="42863" y="207928"/>
                  <a:pt x="36478" y="214313"/>
                  <a:pt x="28575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14300"/>
                </a:lnTo>
                <a:cubicBezTo>
                  <a:pt x="0" y="102379"/>
                  <a:pt x="7322" y="92154"/>
                  <a:pt x="17681" y="87868"/>
                </a:cubicBezTo>
                <a:close/>
                <a:moveTo>
                  <a:pt x="57150" y="135731"/>
                </a:moveTo>
                <a:cubicBezTo>
                  <a:pt x="57150" y="127846"/>
                  <a:pt x="50748" y="121444"/>
                  <a:pt x="42863" y="121444"/>
                </a:cubicBezTo>
                <a:cubicBezTo>
                  <a:pt x="34977" y="121444"/>
                  <a:pt x="28575" y="127846"/>
                  <a:pt x="28575" y="135731"/>
                </a:cubicBezTo>
                <a:cubicBezTo>
                  <a:pt x="28575" y="143617"/>
                  <a:pt x="34977" y="150019"/>
                  <a:pt x="42863" y="150019"/>
                </a:cubicBezTo>
                <a:cubicBezTo>
                  <a:pt x="50748" y="150019"/>
                  <a:pt x="57150" y="143617"/>
                  <a:pt x="57150" y="135731"/>
                </a:cubicBezTo>
                <a:close/>
                <a:moveTo>
                  <a:pt x="185738" y="150019"/>
                </a:moveTo>
                <a:cubicBezTo>
                  <a:pt x="193623" y="150019"/>
                  <a:pt x="200025" y="143617"/>
                  <a:pt x="200025" y="135731"/>
                </a:cubicBezTo>
                <a:cubicBezTo>
                  <a:pt x="200025" y="127846"/>
                  <a:pt x="193623" y="121444"/>
                  <a:pt x="185738" y="121444"/>
                </a:cubicBezTo>
                <a:cubicBezTo>
                  <a:pt x="177852" y="121444"/>
                  <a:pt x="171450" y="127846"/>
                  <a:pt x="171450" y="135731"/>
                </a:cubicBezTo>
                <a:cubicBezTo>
                  <a:pt x="171450" y="143617"/>
                  <a:pt x="177852" y="150019"/>
                  <a:pt x="185738" y="150019"/>
                </a:cubicBez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53225" y="4867275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Toyota Connected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53175" y="5248275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Mobility Services Platform managing millions of vehicles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6013" y="5795963"/>
            <a:ext cx="5610225" cy="923925"/>
          </a:xfrm>
          <a:custGeom>
            <a:avLst/>
            <a:gdLst/>
            <a:ahLst/>
            <a:cxnLst/>
            <a:rect l="l" t="t" r="r" b="b"/>
            <a:pathLst>
              <a:path w="5610225" h="923925">
                <a:moveTo>
                  <a:pt x="76196" y="0"/>
                </a:moveTo>
                <a:lnTo>
                  <a:pt x="5534029" y="0"/>
                </a:lnTo>
                <a:cubicBezTo>
                  <a:pt x="5576111" y="0"/>
                  <a:pt x="5610225" y="34114"/>
                  <a:pt x="5610225" y="76196"/>
                </a:cubicBezTo>
                <a:lnTo>
                  <a:pt x="5610225" y="847729"/>
                </a:lnTo>
                <a:cubicBezTo>
                  <a:pt x="5610225" y="889811"/>
                  <a:pt x="5576111" y="923925"/>
                  <a:pt x="55340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381750" y="5972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53225" y="5953125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Moz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53175" y="6334125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files consume 63x less disk space after migration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928" y="378928"/>
            <a:ext cx="388401" cy="265249"/>
          </a:xfrm>
          <a:custGeom>
            <a:avLst/>
            <a:gdLst/>
            <a:ahLst/>
            <a:cxnLst/>
            <a:rect l="l" t="t" r="r" b="b"/>
            <a:pathLst>
              <a:path w="388401" h="265249">
                <a:moveTo>
                  <a:pt x="37894" y="0"/>
                </a:moveTo>
                <a:lnTo>
                  <a:pt x="350507" y="0"/>
                </a:lnTo>
                <a:cubicBezTo>
                  <a:pt x="371421" y="0"/>
                  <a:pt x="388401" y="16980"/>
                  <a:pt x="388401" y="37894"/>
                </a:cubicBezTo>
                <a:lnTo>
                  <a:pt x="388401" y="227356"/>
                </a:lnTo>
                <a:cubicBezTo>
                  <a:pt x="388401" y="248284"/>
                  <a:pt x="371435" y="265249"/>
                  <a:pt x="350507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78928" y="378928"/>
            <a:ext cx="454713" cy="265249"/>
          </a:xfrm>
          <a:prstGeom prst="rect">
            <a:avLst/>
          </a:prstGeom>
          <a:noFill/>
          <a:ln/>
        </p:spPr>
        <p:txBody>
          <a:bodyPr wrap="square" lIns="113678" tIns="37893" rIns="113678" bIns="37893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7455" y="397874"/>
            <a:ext cx="125993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Adoption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8928" y="719963"/>
            <a:ext cx="11604662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Ecosystem Maturity &amp; Job Market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8928" y="1212569"/>
            <a:ext cx="757855" cy="37893"/>
          </a:xfrm>
          <a:custGeom>
            <a:avLst/>
            <a:gdLst/>
            <a:ahLst/>
            <a:cxnLst/>
            <a:rect l="l" t="t" r="r" b="b"/>
            <a:pathLst>
              <a:path w="757855" h="37893">
                <a:moveTo>
                  <a:pt x="0" y="0"/>
                </a:moveTo>
                <a:lnTo>
                  <a:pt x="757855" y="0"/>
                </a:lnTo>
                <a:lnTo>
                  <a:pt x="757855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3664" y="1444662"/>
            <a:ext cx="5598657" cy="2747226"/>
          </a:xfrm>
          <a:custGeom>
            <a:avLst/>
            <a:gdLst/>
            <a:ahLst/>
            <a:cxnLst/>
            <a:rect l="l" t="t" r="r" b="b"/>
            <a:pathLst>
              <a:path w="5598657" h="2747226">
                <a:moveTo>
                  <a:pt x="75796" y="0"/>
                </a:moveTo>
                <a:lnTo>
                  <a:pt x="5522861" y="0"/>
                </a:lnTo>
                <a:cubicBezTo>
                  <a:pt x="5564722" y="0"/>
                  <a:pt x="5598657" y="33935"/>
                  <a:pt x="5598657" y="75796"/>
                </a:cubicBezTo>
                <a:lnTo>
                  <a:pt x="5598657" y="2671430"/>
                </a:lnTo>
                <a:cubicBezTo>
                  <a:pt x="5598657" y="2713291"/>
                  <a:pt x="5564722" y="2747226"/>
                  <a:pt x="5522861" y="2747226"/>
                </a:cubicBezTo>
                <a:lnTo>
                  <a:pt x="75796" y="2747226"/>
                </a:lnTo>
                <a:cubicBezTo>
                  <a:pt x="33935" y="2747226"/>
                  <a:pt x="0" y="2713291"/>
                  <a:pt x="0" y="2671430"/>
                </a:cubicBezTo>
                <a:lnTo>
                  <a:pt x="0" y="75796"/>
                </a:lnTo>
                <a:cubicBezTo>
                  <a:pt x="0" y="33963"/>
                  <a:pt x="33963" y="0"/>
                  <a:pt x="75796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7865" y="1638862"/>
            <a:ext cx="5323935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Adoption Trends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7865" y="2131469"/>
            <a:ext cx="195147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 Overflow 2025 Survey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24823" y="2093576"/>
            <a:ext cx="568392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2.7%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65" y="2472503"/>
            <a:ext cx="5210256" cy="113678"/>
          </a:xfrm>
          <a:custGeom>
            <a:avLst/>
            <a:gdLst/>
            <a:ahLst/>
            <a:cxnLst/>
            <a:rect l="l" t="t" r="r" b="b"/>
            <a:pathLst>
              <a:path w="5210256" h="113678">
                <a:moveTo>
                  <a:pt x="56839" y="0"/>
                </a:moveTo>
                <a:lnTo>
                  <a:pt x="5153417" y="0"/>
                </a:lnTo>
                <a:cubicBezTo>
                  <a:pt x="5184809" y="0"/>
                  <a:pt x="5210256" y="25448"/>
                  <a:pt x="5210256" y="56839"/>
                </a:cubicBezTo>
                <a:lnTo>
                  <a:pt x="5210256" y="56839"/>
                </a:lnTo>
                <a:cubicBezTo>
                  <a:pt x="5210256" y="88231"/>
                  <a:pt x="5184809" y="113678"/>
                  <a:pt x="5153417" y="113678"/>
                </a:cubicBezTo>
                <a:lnTo>
                  <a:pt x="56839" y="113678"/>
                </a:lnTo>
                <a:cubicBezTo>
                  <a:pt x="25469" y="113678"/>
                  <a:pt x="0" y="88210"/>
                  <a:pt x="0" y="56839"/>
                </a:cubicBezTo>
                <a:lnTo>
                  <a:pt x="0" y="56839"/>
                </a:lnTo>
                <a:cubicBezTo>
                  <a:pt x="0" y="25469"/>
                  <a:pt x="25469" y="0"/>
                  <a:pt x="56839" y="0"/>
                </a:cubicBezTo>
                <a:close/>
              </a:path>
            </a:pathLst>
          </a:custGeom>
          <a:solidFill>
            <a:srgbClr val="5C677D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7865" y="2472503"/>
            <a:ext cx="1402033" cy="113678"/>
          </a:xfrm>
          <a:custGeom>
            <a:avLst/>
            <a:gdLst/>
            <a:ahLst/>
            <a:cxnLst/>
            <a:rect l="l" t="t" r="r" b="b"/>
            <a:pathLst>
              <a:path w="1402033" h="113678">
                <a:moveTo>
                  <a:pt x="56839" y="0"/>
                </a:moveTo>
                <a:lnTo>
                  <a:pt x="1345193" y="0"/>
                </a:lnTo>
                <a:cubicBezTo>
                  <a:pt x="1376585" y="0"/>
                  <a:pt x="1402033" y="25448"/>
                  <a:pt x="1402033" y="56839"/>
                </a:cubicBezTo>
                <a:lnTo>
                  <a:pt x="1402033" y="56839"/>
                </a:lnTo>
                <a:cubicBezTo>
                  <a:pt x="1402033" y="88231"/>
                  <a:pt x="1376585" y="113678"/>
                  <a:pt x="1345193" y="113678"/>
                </a:cubicBezTo>
                <a:lnTo>
                  <a:pt x="56839" y="113678"/>
                </a:lnTo>
                <a:cubicBezTo>
                  <a:pt x="25469" y="113678"/>
                  <a:pt x="0" y="88210"/>
                  <a:pt x="0" y="56839"/>
                </a:cubicBezTo>
                <a:lnTo>
                  <a:pt x="0" y="56839"/>
                </a:lnTo>
                <a:cubicBezTo>
                  <a:pt x="0" y="25469"/>
                  <a:pt x="25469" y="0"/>
                  <a:pt x="56839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7865" y="2624075"/>
            <a:ext cx="528604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 from 2.1% in 2024 (extensive development work)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865" y="3007739"/>
            <a:ext cx="5210256" cy="9473"/>
          </a:xfrm>
          <a:custGeom>
            <a:avLst/>
            <a:gdLst/>
            <a:ahLst/>
            <a:cxnLst/>
            <a:rect l="l" t="t" r="r" b="b"/>
            <a:pathLst>
              <a:path w="5210256" h="9473">
                <a:moveTo>
                  <a:pt x="0" y="0"/>
                </a:moveTo>
                <a:lnTo>
                  <a:pt x="5210256" y="0"/>
                </a:lnTo>
                <a:lnTo>
                  <a:pt x="5210256" y="9473"/>
                </a:lnTo>
                <a:lnTo>
                  <a:pt x="0" y="9473"/>
                </a:lnTo>
                <a:lnTo>
                  <a:pt x="0" y="0"/>
                </a:lnTo>
                <a:close/>
              </a:path>
            </a:pathLst>
          </a:custGeom>
          <a:solidFill>
            <a:srgbClr val="4B9F8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6284" y="3296671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64077" y="0"/>
                </a:moveTo>
                <a:lnTo>
                  <a:pt x="163546" y="0"/>
                </a:lnTo>
                <a:cubicBezTo>
                  <a:pt x="175313" y="0"/>
                  <a:pt x="184905" y="9680"/>
                  <a:pt x="184461" y="21403"/>
                </a:cubicBezTo>
                <a:cubicBezTo>
                  <a:pt x="184372" y="23757"/>
                  <a:pt x="184283" y="26110"/>
                  <a:pt x="184150" y="28420"/>
                </a:cubicBezTo>
                <a:lnTo>
                  <a:pt x="206175" y="28420"/>
                </a:lnTo>
                <a:cubicBezTo>
                  <a:pt x="217765" y="28420"/>
                  <a:pt x="227978" y="38011"/>
                  <a:pt x="227090" y="50534"/>
                </a:cubicBezTo>
                <a:cubicBezTo>
                  <a:pt x="223760" y="96582"/>
                  <a:pt x="200225" y="121893"/>
                  <a:pt x="174692" y="135126"/>
                </a:cubicBezTo>
                <a:cubicBezTo>
                  <a:pt x="167676" y="138767"/>
                  <a:pt x="160526" y="141476"/>
                  <a:pt x="153732" y="143474"/>
                </a:cubicBezTo>
                <a:cubicBezTo>
                  <a:pt x="144762" y="156174"/>
                  <a:pt x="135437" y="162880"/>
                  <a:pt x="128021" y="166477"/>
                </a:cubicBezTo>
                <a:lnTo>
                  <a:pt x="128021" y="198937"/>
                </a:lnTo>
                <a:lnTo>
                  <a:pt x="156441" y="198937"/>
                </a:lnTo>
                <a:cubicBezTo>
                  <a:pt x="164301" y="198937"/>
                  <a:pt x="170651" y="205287"/>
                  <a:pt x="170651" y="213147"/>
                </a:cubicBezTo>
                <a:cubicBezTo>
                  <a:pt x="170651" y="221007"/>
                  <a:pt x="164301" y="227357"/>
                  <a:pt x="156441" y="227357"/>
                </a:cubicBezTo>
                <a:lnTo>
                  <a:pt x="71182" y="227357"/>
                </a:lnTo>
                <a:cubicBezTo>
                  <a:pt x="63322" y="227357"/>
                  <a:pt x="56972" y="221007"/>
                  <a:pt x="56972" y="213147"/>
                </a:cubicBezTo>
                <a:cubicBezTo>
                  <a:pt x="56972" y="205287"/>
                  <a:pt x="63322" y="198937"/>
                  <a:pt x="71182" y="198937"/>
                </a:cubicBezTo>
                <a:lnTo>
                  <a:pt x="99602" y="198937"/>
                </a:lnTo>
                <a:lnTo>
                  <a:pt x="99602" y="166477"/>
                </a:lnTo>
                <a:cubicBezTo>
                  <a:pt x="92497" y="163057"/>
                  <a:pt x="83660" y="156707"/>
                  <a:pt x="75045" y="145029"/>
                </a:cubicBezTo>
                <a:cubicBezTo>
                  <a:pt x="66875" y="142897"/>
                  <a:pt x="57994" y="139656"/>
                  <a:pt x="49335" y="134771"/>
                </a:cubicBezTo>
                <a:cubicBezTo>
                  <a:pt x="25311" y="121316"/>
                  <a:pt x="3641" y="95960"/>
                  <a:pt x="533" y="50445"/>
                </a:cubicBezTo>
                <a:cubicBezTo>
                  <a:pt x="-311" y="37967"/>
                  <a:pt x="9858" y="28375"/>
                  <a:pt x="21448" y="28375"/>
                </a:cubicBezTo>
                <a:lnTo>
                  <a:pt x="43473" y="28375"/>
                </a:lnTo>
                <a:cubicBezTo>
                  <a:pt x="43340" y="26066"/>
                  <a:pt x="43251" y="23757"/>
                  <a:pt x="43162" y="21359"/>
                </a:cubicBezTo>
                <a:cubicBezTo>
                  <a:pt x="42718" y="9592"/>
                  <a:pt x="52310" y="-44"/>
                  <a:pt x="64077" y="-44"/>
                </a:cubicBezTo>
                <a:close/>
                <a:moveTo>
                  <a:pt x="45072" y="49734"/>
                </a:moveTo>
                <a:lnTo>
                  <a:pt x="21803" y="49734"/>
                </a:lnTo>
                <a:cubicBezTo>
                  <a:pt x="24556" y="87346"/>
                  <a:pt x="41830" y="106174"/>
                  <a:pt x="59637" y="116165"/>
                </a:cubicBezTo>
                <a:cubicBezTo>
                  <a:pt x="53242" y="99602"/>
                  <a:pt x="47958" y="77976"/>
                  <a:pt x="45072" y="49734"/>
                </a:cubicBezTo>
                <a:close/>
                <a:moveTo>
                  <a:pt x="168741" y="114034"/>
                </a:moveTo>
                <a:cubicBezTo>
                  <a:pt x="186726" y="103465"/>
                  <a:pt x="202978" y="84681"/>
                  <a:pt x="205731" y="49734"/>
                </a:cubicBezTo>
                <a:lnTo>
                  <a:pt x="182507" y="49734"/>
                </a:lnTo>
                <a:cubicBezTo>
                  <a:pt x="179754" y="76777"/>
                  <a:pt x="174780" y="97781"/>
                  <a:pt x="168741" y="114034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75739" y="3164047"/>
            <a:ext cx="2548289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Phoenix Framework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5739" y="3429296"/>
            <a:ext cx="2529343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Admired Web Framework 2025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7865" y="3770331"/>
            <a:ext cx="528604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Ranked #1 in developer satisfaction for 3 consecutive years (2023-2025)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3664" y="4390825"/>
            <a:ext cx="5598657" cy="1373613"/>
          </a:xfrm>
          <a:custGeom>
            <a:avLst/>
            <a:gdLst/>
            <a:ahLst/>
            <a:cxnLst/>
            <a:rect l="l" t="t" r="r" b="b"/>
            <a:pathLst>
              <a:path w="5598657" h="1373613">
                <a:moveTo>
                  <a:pt x="75782" y="0"/>
                </a:moveTo>
                <a:lnTo>
                  <a:pt x="5522875" y="0"/>
                </a:lnTo>
                <a:cubicBezTo>
                  <a:pt x="5564728" y="0"/>
                  <a:pt x="5598657" y="33929"/>
                  <a:pt x="5598657" y="75782"/>
                </a:cubicBezTo>
                <a:lnTo>
                  <a:pt x="5598657" y="1297831"/>
                </a:lnTo>
                <a:cubicBezTo>
                  <a:pt x="5598657" y="1339684"/>
                  <a:pt x="5564728" y="1373613"/>
                  <a:pt x="5522875" y="1373613"/>
                </a:cubicBezTo>
                <a:lnTo>
                  <a:pt x="75782" y="1373613"/>
                </a:lnTo>
                <a:cubicBezTo>
                  <a:pt x="33929" y="1373613"/>
                  <a:pt x="0" y="1339684"/>
                  <a:pt x="0" y="1297831"/>
                </a:cubicBezTo>
                <a:lnTo>
                  <a:pt x="0" y="75782"/>
                </a:lnTo>
                <a:cubicBezTo>
                  <a:pt x="0" y="33957"/>
                  <a:pt x="33957" y="0"/>
                  <a:pt x="75782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7865" y="4585026"/>
            <a:ext cx="530498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Community Growth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6816" y="4963953"/>
            <a:ext cx="2671441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800+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972" y="5342881"/>
            <a:ext cx="260512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ElixirConf 2025 attendees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85583" y="4963953"/>
            <a:ext cx="2671441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18740" y="5342881"/>
            <a:ext cx="260512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 ecosystem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4933" y="1444662"/>
            <a:ext cx="5598657" cy="3306145"/>
          </a:xfrm>
          <a:custGeom>
            <a:avLst/>
            <a:gdLst/>
            <a:ahLst/>
            <a:cxnLst/>
            <a:rect l="l" t="t" r="r" b="b"/>
            <a:pathLst>
              <a:path w="5598657" h="3306145">
                <a:moveTo>
                  <a:pt x="75777" y="0"/>
                </a:moveTo>
                <a:lnTo>
                  <a:pt x="5522881" y="0"/>
                </a:lnTo>
                <a:cubicBezTo>
                  <a:pt x="5564731" y="0"/>
                  <a:pt x="5598657" y="33926"/>
                  <a:pt x="5598657" y="75777"/>
                </a:cubicBezTo>
                <a:lnTo>
                  <a:pt x="5598657" y="3230368"/>
                </a:lnTo>
                <a:cubicBezTo>
                  <a:pt x="5598657" y="3272218"/>
                  <a:pt x="5564731" y="3306145"/>
                  <a:pt x="5522881" y="3306145"/>
                </a:cubicBezTo>
                <a:lnTo>
                  <a:pt x="75777" y="3306145"/>
                </a:lnTo>
                <a:cubicBezTo>
                  <a:pt x="33926" y="3306145"/>
                  <a:pt x="0" y="3272218"/>
                  <a:pt x="0" y="3230368"/>
                </a:cubicBezTo>
                <a:lnTo>
                  <a:pt x="0" y="75777"/>
                </a:lnTo>
                <a:cubicBezTo>
                  <a:pt x="0" y="33954"/>
                  <a:pt x="33954" y="0"/>
                  <a:pt x="75777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9133" y="1638862"/>
            <a:ext cx="5323935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 Market Reality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13870" y="2131469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23683" y="23683"/>
                </a:moveTo>
                <a:cubicBezTo>
                  <a:pt x="23683" y="17133"/>
                  <a:pt x="18391" y="11841"/>
                  <a:pt x="11841" y="11841"/>
                </a:cubicBezTo>
                <a:cubicBezTo>
                  <a:pt x="5292" y="11841"/>
                  <a:pt x="0" y="17133"/>
                  <a:pt x="0" y="23683"/>
                </a:cubicBezTo>
                <a:lnTo>
                  <a:pt x="0" y="148019"/>
                </a:lnTo>
                <a:cubicBezTo>
                  <a:pt x="0" y="164375"/>
                  <a:pt x="13248" y="177622"/>
                  <a:pt x="29604" y="177622"/>
                </a:cubicBezTo>
                <a:lnTo>
                  <a:pt x="177622" y="177622"/>
                </a:lnTo>
                <a:cubicBezTo>
                  <a:pt x="184172" y="177622"/>
                  <a:pt x="189464" y="172331"/>
                  <a:pt x="189464" y="165781"/>
                </a:cubicBezTo>
                <a:cubicBezTo>
                  <a:pt x="189464" y="159231"/>
                  <a:pt x="184172" y="153939"/>
                  <a:pt x="177622" y="153939"/>
                </a:cubicBezTo>
                <a:lnTo>
                  <a:pt x="29604" y="153939"/>
                </a:lnTo>
                <a:cubicBezTo>
                  <a:pt x="26347" y="153939"/>
                  <a:pt x="23683" y="151275"/>
                  <a:pt x="23683" y="148019"/>
                </a:cubicBezTo>
                <a:lnTo>
                  <a:pt x="23683" y="23683"/>
                </a:lnTo>
                <a:close/>
                <a:moveTo>
                  <a:pt x="174144" y="55729"/>
                </a:moveTo>
                <a:cubicBezTo>
                  <a:pt x="178770" y="51103"/>
                  <a:pt x="178770" y="43591"/>
                  <a:pt x="174144" y="38966"/>
                </a:cubicBezTo>
                <a:cubicBezTo>
                  <a:pt x="169518" y="34340"/>
                  <a:pt x="162006" y="34340"/>
                  <a:pt x="157381" y="38966"/>
                </a:cubicBezTo>
                <a:lnTo>
                  <a:pt x="118415" y="77969"/>
                </a:lnTo>
                <a:lnTo>
                  <a:pt x="97174" y="56765"/>
                </a:lnTo>
                <a:cubicBezTo>
                  <a:pt x="92549" y="52140"/>
                  <a:pt x="85037" y="52140"/>
                  <a:pt x="80411" y="56765"/>
                </a:cubicBezTo>
                <a:lnTo>
                  <a:pt x="44887" y="92290"/>
                </a:lnTo>
                <a:cubicBezTo>
                  <a:pt x="40261" y="96915"/>
                  <a:pt x="40261" y="104427"/>
                  <a:pt x="44887" y="109053"/>
                </a:cubicBezTo>
                <a:cubicBezTo>
                  <a:pt x="49512" y="113678"/>
                  <a:pt x="57024" y="113678"/>
                  <a:pt x="61650" y="109053"/>
                </a:cubicBezTo>
                <a:lnTo>
                  <a:pt x="88811" y="81891"/>
                </a:lnTo>
                <a:lnTo>
                  <a:pt x="110052" y="103132"/>
                </a:lnTo>
                <a:cubicBezTo>
                  <a:pt x="114677" y="107758"/>
                  <a:pt x="122189" y="107758"/>
                  <a:pt x="126815" y="103132"/>
                </a:cubicBezTo>
                <a:lnTo>
                  <a:pt x="174181" y="55766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24339" y="2093576"/>
            <a:ext cx="4963953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Smaller but Growing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24339" y="2358825"/>
            <a:ext cx="4963953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market is smaller than JavaScript/Python but growing steadily. Quality over quantity.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9660" y="3003002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74009" y="17762"/>
                </a:moveTo>
                <a:lnTo>
                  <a:pt x="115455" y="17762"/>
                </a:lnTo>
                <a:cubicBezTo>
                  <a:pt x="117083" y="17762"/>
                  <a:pt x="118415" y="19094"/>
                  <a:pt x="118415" y="20723"/>
                </a:cubicBezTo>
                <a:lnTo>
                  <a:pt x="118415" y="35524"/>
                </a:lnTo>
                <a:lnTo>
                  <a:pt x="71049" y="35524"/>
                </a:lnTo>
                <a:lnTo>
                  <a:pt x="71049" y="20723"/>
                </a:lnTo>
                <a:cubicBezTo>
                  <a:pt x="71049" y="19094"/>
                  <a:pt x="72381" y="17762"/>
                  <a:pt x="74009" y="17762"/>
                </a:cubicBezTo>
                <a:close/>
                <a:moveTo>
                  <a:pt x="53287" y="20723"/>
                </a:moveTo>
                <a:lnTo>
                  <a:pt x="53287" y="35524"/>
                </a:lnTo>
                <a:lnTo>
                  <a:pt x="23683" y="35524"/>
                </a:lnTo>
                <a:cubicBezTo>
                  <a:pt x="10620" y="35524"/>
                  <a:pt x="0" y="46145"/>
                  <a:pt x="0" y="59207"/>
                </a:cubicBezTo>
                <a:lnTo>
                  <a:pt x="0" y="94732"/>
                </a:lnTo>
                <a:lnTo>
                  <a:pt x="189464" y="94732"/>
                </a:lnTo>
                <a:lnTo>
                  <a:pt x="189464" y="59207"/>
                </a:lnTo>
                <a:cubicBezTo>
                  <a:pt x="189464" y="46145"/>
                  <a:pt x="178844" y="35524"/>
                  <a:pt x="165781" y="35524"/>
                </a:cubicBezTo>
                <a:lnTo>
                  <a:pt x="136177" y="35524"/>
                </a:lnTo>
                <a:lnTo>
                  <a:pt x="136177" y="20723"/>
                </a:lnTo>
                <a:cubicBezTo>
                  <a:pt x="136177" y="9288"/>
                  <a:pt x="126889" y="0"/>
                  <a:pt x="115455" y="0"/>
                </a:cubicBezTo>
                <a:lnTo>
                  <a:pt x="74009" y="0"/>
                </a:lnTo>
                <a:cubicBezTo>
                  <a:pt x="62575" y="0"/>
                  <a:pt x="53287" y="9288"/>
                  <a:pt x="53287" y="20723"/>
                </a:cubicBezTo>
                <a:close/>
                <a:moveTo>
                  <a:pt x="189464" y="112494"/>
                </a:moveTo>
                <a:lnTo>
                  <a:pt x="118415" y="112494"/>
                </a:lnTo>
                <a:lnTo>
                  <a:pt x="118415" y="118415"/>
                </a:lnTo>
                <a:cubicBezTo>
                  <a:pt x="118415" y="124965"/>
                  <a:pt x="113123" y="130256"/>
                  <a:pt x="106573" y="130256"/>
                </a:cubicBezTo>
                <a:lnTo>
                  <a:pt x="82890" y="130256"/>
                </a:lnTo>
                <a:cubicBezTo>
                  <a:pt x="76341" y="130256"/>
                  <a:pt x="71049" y="124965"/>
                  <a:pt x="71049" y="118415"/>
                </a:cubicBezTo>
                <a:lnTo>
                  <a:pt x="71049" y="112494"/>
                </a:lnTo>
                <a:lnTo>
                  <a:pt x="0" y="112494"/>
                </a:lnTo>
                <a:lnTo>
                  <a:pt x="0" y="153939"/>
                </a:lnTo>
                <a:cubicBezTo>
                  <a:pt x="0" y="167002"/>
                  <a:pt x="10620" y="177622"/>
                  <a:pt x="23683" y="177622"/>
                </a:cubicBezTo>
                <a:lnTo>
                  <a:pt x="165781" y="177622"/>
                </a:lnTo>
                <a:cubicBezTo>
                  <a:pt x="178844" y="177622"/>
                  <a:pt x="189464" y="167002"/>
                  <a:pt x="189464" y="153939"/>
                </a:cubicBezTo>
                <a:lnTo>
                  <a:pt x="189464" y="112494"/>
                </a:ln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93403" y="2965110"/>
            <a:ext cx="500184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High-Value Positions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93403" y="3230359"/>
            <a:ext cx="5001846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Roles often involve challenging distributed systems, real-time applications, and high-scale infrastructure.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68341" y="3874536"/>
            <a:ext cx="118415" cy="189464"/>
          </a:xfrm>
          <a:custGeom>
            <a:avLst/>
            <a:gdLst/>
            <a:ahLst/>
            <a:cxnLst/>
            <a:rect l="l" t="t" r="r" b="b"/>
            <a:pathLst>
              <a:path w="118415" h="189464">
                <a:moveTo>
                  <a:pt x="50326" y="8881"/>
                </a:moveTo>
                <a:cubicBezTo>
                  <a:pt x="50326" y="3959"/>
                  <a:pt x="54286" y="0"/>
                  <a:pt x="59207" y="0"/>
                </a:cubicBezTo>
                <a:cubicBezTo>
                  <a:pt x="64129" y="0"/>
                  <a:pt x="68089" y="3959"/>
                  <a:pt x="68089" y="8881"/>
                </a:cubicBezTo>
                <a:lnTo>
                  <a:pt x="68089" y="23683"/>
                </a:lnTo>
                <a:lnTo>
                  <a:pt x="88811" y="23683"/>
                </a:lnTo>
                <a:cubicBezTo>
                  <a:pt x="95361" y="23683"/>
                  <a:pt x="100653" y="28975"/>
                  <a:pt x="100653" y="35524"/>
                </a:cubicBezTo>
                <a:cubicBezTo>
                  <a:pt x="100653" y="42074"/>
                  <a:pt x="95361" y="47366"/>
                  <a:pt x="88811" y="47366"/>
                </a:cubicBezTo>
                <a:lnTo>
                  <a:pt x="46293" y="47366"/>
                </a:lnTo>
                <a:cubicBezTo>
                  <a:pt x="37079" y="47366"/>
                  <a:pt x="29604" y="54841"/>
                  <a:pt x="29604" y="64055"/>
                </a:cubicBezTo>
                <a:cubicBezTo>
                  <a:pt x="29604" y="72381"/>
                  <a:pt x="35709" y="79412"/>
                  <a:pt x="43925" y="80596"/>
                </a:cubicBezTo>
                <a:lnTo>
                  <a:pt x="77821" y="85444"/>
                </a:lnTo>
                <a:cubicBezTo>
                  <a:pt x="97729" y="88293"/>
                  <a:pt x="112494" y="105315"/>
                  <a:pt x="112494" y="125409"/>
                </a:cubicBezTo>
                <a:cubicBezTo>
                  <a:pt x="112494" y="147723"/>
                  <a:pt x="94399" y="165781"/>
                  <a:pt x="72122" y="165781"/>
                </a:cubicBezTo>
                <a:lnTo>
                  <a:pt x="68089" y="165781"/>
                </a:lnTo>
                <a:lnTo>
                  <a:pt x="68089" y="180583"/>
                </a:lnTo>
                <a:cubicBezTo>
                  <a:pt x="68089" y="185504"/>
                  <a:pt x="64129" y="189464"/>
                  <a:pt x="59207" y="189464"/>
                </a:cubicBezTo>
                <a:cubicBezTo>
                  <a:pt x="54286" y="189464"/>
                  <a:pt x="50326" y="185504"/>
                  <a:pt x="50326" y="180583"/>
                </a:cubicBezTo>
                <a:lnTo>
                  <a:pt x="50326" y="165781"/>
                </a:lnTo>
                <a:lnTo>
                  <a:pt x="23683" y="165781"/>
                </a:lnTo>
                <a:cubicBezTo>
                  <a:pt x="17133" y="165781"/>
                  <a:pt x="11841" y="160489"/>
                  <a:pt x="11841" y="153939"/>
                </a:cubicBezTo>
                <a:cubicBezTo>
                  <a:pt x="11841" y="147390"/>
                  <a:pt x="17133" y="142098"/>
                  <a:pt x="23683" y="142098"/>
                </a:cubicBezTo>
                <a:lnTo>
                  <a:pt x="72122" y="142098"/>
                </a:lnTo>
                <a:cubicBezTo>
                  <a:pt x="81336" y="142098"/>
                  <a:pt x="88811" y="134623"/>
                  <a:pt x="88811" y="125409"/>
                </a:cubicBezTo>
                <a:cubicBezTo>
                  <a:pt x="88811" y="117083"/>
                  <a:pt x="82705" y="110052"/>
                  <a:pt x="74490" y="108868"/>
                </a:cubicBezTo>
                <a:lnTo>
                  <a:pt x="40594" y="104020"/>
                </a:lnTo>
                <a:cubicBezTo>
                  <a:pt x="20686" y="101208"/>
                  <a:pt x="5921" y="84149"/>
                  <a:pt x="5921" y="64055"/>
                </a:cubicBezTo>
                <a:cubicBezTo>
                  <a:pt x="5921" y="41778"/>
                  <a:pt x="24016" y="23683"/>
                  <a:pt x="46293" y="23683"/>
                </a:cubicBezTo>
                <a:lnTo>
                  <a:pt x="50326" y="23683"/>
                </a:lnTo>
                <a:lnTo>
                  <a:pt x="50326" y="8881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58531" y="3836643"/>
            <a:ext cx="493553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Compensation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58531" y="4101893"/>
            <a:ext cx="4935534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Historically ranked among top-paying technologies (Stack Overflow 2024).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4933" y="4864019"/>
            <a:ext cx="5598657" cy="1904112"/>
          </a:xfrm>
          <a:custGeom>
            <a:avLst/>
            <a:gdLst/>
            <a:ahLst/>
            <a:cxnLst/>
            <a:rect l="l" t="t" r="r" b="b"/>
            <a:pathLst>
              <a:path w="5598657" h="1904112">
                <a:moveTo>
                  <a:pt x="75784" y="0"/>
                </a:moveTo>
                <a:lnTo>
                  <a:pt x="5522874" y="0"/>
                </a:lnTo>
                <a:cubicBezTo>
                  <a:pt x="5564728" y="0"/>
                  <a:pt x="5598657" y="33929"/>
                  <a:pt x="5598657" y="75784"/>
                </a:cubicBezTo>
                <a:lnTo>
                  <a:pt x="5598657" y="1828328"/>
                </a:lnTo>
                <a:cubicBezTo>
                  <a:pt x="5598657" y="1870182"/>
                  <a:pt x="5564728" y="1904112"/>
                  <a:pt x="5522874" y="1904112"/>
                </a:cubicBezTo>
                <a:lnTo>
                  <a:pt x="75784" y="1904112"/>
                </a:lnTo>
                <a:cubicBezTo>
                  <a:pt x="33929" y="1904112"/>
                  <a:pt x="0" y="1870182"/>
                  <a:pt x="0" y="1828328"/>
                </a:cubicBezTo>
                <a:lnTo>
                  <a:pt x="0" y="75784"/>
                </a:lnTo>
                <a:cubicBezTo>
                  <a:pt x="0" y="33958"/>
                  <a:pt x="33958" y="0"/>
                  <a:pt x="75784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09133" y="5020119"/>
            <a:ext cx="530498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Ecosystem Maturity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37553" y="5455990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74383" y="5399047"/>
            <a:ext cx="211252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language (1.x since 2014)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37553" y="5778182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74383" y="5702189"/>
            <a:ext cx="143045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standard library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37553" y="6071799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74383" y="6005331"/>
            <a:ext cx="169570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documentation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37553" y="6393991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74383" y="6308473"/>
            <a:ext cx="2055683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frameworks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90525" cy="266700"/>
          </a:xfrm>
          <a:custGeom>
            <a:avLst/>
            <a:gdLst/>
            <a:ahLst/>
            <a:cxnLst/>
            <a:rect l="l" t="t" r="r" b="b"/>
            <a:pathLst>
              <a:path w="390525" h="266700">
                <a:moveTo>
                  <a:pt x="38101" y="0"/>
                </a:moveTo>
                <a:lnTo>
                  <a:pt x="352424" y="0"/>
                </a:lnTo>
                <a:cubicBezTo>
                  <a:pt x="373467" y="0"/>
                  <a:pt x="390525" y="17058"/>
                  <a:pt x="390525" y="38101"/>
                </a:cubicBezTo>
                <a:lnTo>
                  <a:pt x="390525" y="228599"/>
                </a:lnTo>
                <a:cubicBezTo>
                  <a:pt x="390525" y="249642"/>
                  <a:pt x="373467" y="266700"/>
                  <a:pt x="3524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57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3965" y="400050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Strengths &amp; Limitations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5763" y="1452563"/>
            <a:ext cx="5591175" cy="4991100"/>
          </a:xfrm>
          <a:custGeom>
            <a:avLst/>
            <a:gdLst/>
            <a:ahLst/>
            <a:cxnLst/>
            <a:rect l="l" t="t" r="r" b="b"/>
            <a:pathLst>
              <a:path w="5591175" h="4991100">
                <a:moveTo>
                  <a:pt x="76214" y="0"/>
                </a:moveTo>
                <a:lnTo>
                  <a:pt x="5514961" y="0"/>
                </a:lnTo>
                <a:cubicBezTo>
                  <a:pt x="5557053" y="0"/>
                  <a:pt x="5591175" y="34122"/>
                  <a:pt x="5591175" y="76214"/>
                </a:cubicBezTo>
                <a:lnTo>
                  <a:pt x="5591175" y="4914886"/>
                </a:lnTo>
                <a:cubicBezTo>
                  <a:pt x="5591175" y="4956978"/>
                  <a:pt x="5557053" y="4991100"/>
                  <a:pt x="5514961" y="4991100"/>
                </a:cubicBezTo>
                <a:lnTo>
                  <a:pt x="76214" y="4991100"/>
                </a:lnTo>
                <a:cubicBezTo>
                  <a:pt x="34122" y="4991100"/>
                  <a:pt x="0" y="4956978"/>
                  <a:pt x="0" y="4914886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600" y="1685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3584" y="153591"/>
                </a:moveTo>
                <a:lnTo>
                  <a:pt x="103584" y="125016"/>
                </a:ln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lnTo>
                  <a:pt x="103584" y="103584"/>
                </a:lnTo>
                <a:lnTo>
                  <a:pt x="103584" y="75009"/>
                </a:lnTo>
                <a:cubicBezTo>
                  <a:pt x="103584" y="69071"/>
                  <a:pt x="108362" y="64294"/>
                  <a:pt x="114300" y="64294"/>
                </a:cubicBezTo>
                <a:cubicBezTo>
                  <a:pt x="120238" y="64294"/>
                  <a:pt x="125016" y="69071"/>
                  <a:pt x="125016" y="75009"/>
                </a:cubicBezTo>
                <a:lnTo>
                  <a:pt x="125016" y="103584"/>
                </a:ln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125016" y="125016"/>
                </a:lnTo>
                <a:lnTo>
                  <a:pt x="125016" y="153591"/>
                </a:lnTo>
                <a:cubicBezTo>
                  <a:pt x="125016" y="159529"/>
                  <a:pt x="120238" y="164306"/>
                  <a:pt x="114300" y="164306"/>
                </a:cubicBezTo>
                <a:cubicBezTo>
                  <a:pt x="108362" y="164306"/>
                  <a:pt x="103584" y="159529"/>
                  <a:pt x="103584" y="15359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6775" y="1647825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1621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7725" y="2105025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Massive Concurrency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1025" y="2447925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millions of lightweight processes with minimal memory overhead. Ideal for real-time applications.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3062288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  <a:lnTo>
                  <a:pt x="52006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B9F8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0075" y="3276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7725" y="3219450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Fault Tolerance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1025" y="3562350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Supervision trees enable self-healing systems. Battle-tested in telecom for 30+ years.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1025" y="4176712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  <a:lnTo>
                  <a:pt x="52006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B9F8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0550" y="43910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7725" y="433387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Productivity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1025" y="4676775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Expressive syntax, excellent tooling, and functional paradigm reduce bugs and speed development.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025" y="5291138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  <a:lnTo>
                  <a:pt x="52006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B9F8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8650" y="550545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7725" y="54483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Efficiency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1025" y="5791200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massive scale with fewer servers. Pinterest saved $2M annually by switching to Elixir.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5063" y="1452563"/>
            <a:ext cx="5591175" cy="4991100"/>
          </a:xfrm>
          <a:custGeom>
            <a:avLst/>
            <a:gdLst/>
            <a:ahLst/>
            <a:cxnLst/>
            <a:rect l="l" t="t" r="r" b="b"/>
            <a:pathLst>
              <a:path w="5591175" h="4991100">
                <a:moveTo>
                  <a:pt x="76214" y="0"/>
                </a:moveTo>
                <a:lnTo>
                  <a:pt x="5514961" y="0"/>
                </a:lnTo>
                <a:cubicBezTo>
                  <a:pt x="5557053" y="0"/>
                  <a:pt x="5591175" y="34122"/>
                  <a:pt x="5591175" y="76214"/>
                </a:cubicBezTo>
                <a:lnTo>
                  <a:pt x="5591175" y="4914886"/>
                </a:lnTo>
                <a:cubicBezTo>
                  <a:pt x="5591175" y="4956978"/>
                  <a:pt x="5557053" y="4991100"/>
                  <a:pt x="5514961" y="4991100"/>
                </a:cubicBezTo>
                <a:lnTo>
                  <a:pt x="76214" y="4991100"/>
                </a:lnTo>
                <a:cubicBezTo>
                  <a:pt x="34122" y="4991100"/>
                  <a:pt x="0" y="4956978"/>
                  <a:pt x="0" y="4914886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38900" y="1685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5009" y="103584"/>
                </a:move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96075" y="1647825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9375" y="2162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7025" y="2105025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for CPU-Intensive Tasks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0325" y="2447925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BEAM is not optimized for raw computational speed. For image processing, ML, or video encoding, use Rust/C++.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0325" y="3062288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  <a:lnTo>
                  <a:pt x="52006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29375" y="3276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lnTo>
                  <a:pt x="66675" y="19050"/>
                </a:lnTo>
                <a:cubicBezTo>
                  <a:pt x="66675" y="21669"/>
                  <a:pt x="68818" y="23813"/>
                  <a:pt x="71438" y="23813"/>
                </a:cubicBezTo>
                <a:lnTo>
                  <a:pt x="80962" y="23813"/>
                </a:lnTo>
                <a:cubicBezTo>
                  <a:pt x="83582" y="23813"/>
                  <a:pt x="85725" y="21669"/>
                  <a:pt x="85725" y="19050"/>
                </a:cubicBezTo>
                <a:lnTo>
                  <a:pt x="85725" y="0"/>
                </a:lnTo>
                <a:lnTo>
                  <a:pt x="95250" y="0"/>
                </a:lnTo>
                <a:cubicBezTo>
                  <a:pt x="105757" y="0"/>
                  <a:pt x="114300" y="8543"/>
                  <a:pt x="114300" y="19050"/>
                </a:cubicBezTo>
                <a:lnTo>
                  <a:pt x="114300" y="57150"/>
                </a:lnTo>
                <a:cubicBezTo>
                  <a:pt x="114300" y="58787"/>
                  <a:pt x="114092" y="60394"/>
                  <a:pt x="113705" y="61912"/>
                </a:cubicBezTo>
                <a:lnTo>
                  <a:pt x="38695" y="61912"/>
                </a:lnTo>
                <a:cubicBezTo>
                  <a:pt x="38308" y="60394"/>
                  <a:pt x="38100" y="58787"/>
                  <a:pt x="38100" y="57150"/>
                </a:cubicBezTo>
                <a:lnTo>
                  <a:pt x="38100" y="19050"/>
                </a:lnTo>
                <a:cubicBezTo>
                  <a:pt x="38100" y="8543"/>
                  <a:pt x="46643" y="0"/>
                  <a:pt x="57150" y="0"/>
                </a:cubicBezTo>
                <a:lnTo>
                  <a:pt x="66675" y="0"/>
                </a:lnTo>
                <a:close/>
                <a:moveTo>
                  <a:pt x="95250" y="152400"/>
                </a:moveTo>
                <a:cubicBezTo>
                  <a:pt x="91916" y="152400"/>
                  <a:pt x="88761" y="151537"/>
                  <a:pt x="86023" y="150019"/>
                </a:cubicBezTo>
                <a:cubicBezTo>
                  <a:pt x="88850" y="145107"/>
                  <a:pt x="90488" y="139422"/>
                  <a:pt x="90488" y="133350"/>
                </a:cubicBezTo>
                <a:lnTo>
                  <a:pt x="90488" y="95250"/>
                </a:lnTo>
                <a:cubicBezTo>
                  <a:pt x="90488" y="89178"/>
                  <a:pt x="88850" y="83493"/>
                  <a:pt x="86023" y="78581"/>
                </a:cubicBezTo>
                <a:cubicBezTo>
                  <a:pt x="88761" y="77063"/>
                  <a:pt x="91886" y="76200"/>
                  <a:pt x="95250" y="76200"/>
                </a:cubicBezTo>
                <a:lnTo>
                  <a:pt x="104775" y="76200"/>
                </a:lnTo>
                <a:lnTo>
                  <a:pt x="104775" y="95250"/>
                </a:lnTo>
                <a:cubicBezTo>
                  <a:pt x="104775" y="97869"/>
                  <a:pt x="106918" y="100013"/>
                  <a:pt x="109537" y="100013"/>
                </a:cubicBezTo>
                <a:lnTo>
                  <a:pt x="119062" y="100013"/>
                </a:lnTo>
                <a:cubicBezTo>
                  <a:pt x="121682" y="100013"/>
                  <a:pt x="123825" y="97869"/>
                  <a:pt x="123825" y="95250"/>
                </a:cubicBezTo>
                <a:lnTo>
                  <a:pt x="123825" y="76200"/>
                </a:lnTo>
                <a:lnTo>
                  <a:pt x="133350" y="76200"/>
                </a:lnTo>
                <a:cubicBezTo>
                  <a:pt x="143857" y="76200"/>
                  <a:pt x="152400" y="84743"/>
                  <a:pt x="152400" y="95250"/>
                </a:cubicBezTo>
                <a:lnTo>
                  <a:pt x="152400" y="133350"/>
                </a:lnTo>
                <a:cubicBezTo>
                  <a:pt x="152400" y="143857"/>
                  <a:pt x="143857" y="152400"/>
                  <a:pt x="133350" y="152400"/>
                </a:cubicBezTo>
                <a:lnTo>
                  <a:pt x="95250" y="152400"/>
                </a:lnTo>
                <a:close/>
                <a:moveTo>
                  <a:pt x="0" y="95250"/>
                </a:moveTo>
                <a:cubicBezTo>
                  <a:pt x="0" y="84743"/>
                  <a:pt x="8543" y="76200"/>
                  <a:pt x="19050" y="76200"/>
                </a:cubicBezTo>
                <a:lnTo>
                  <a:pt x="28575" y="76200"/>
                </a:lnTo>
                <a:lnTo>
                  <a:pt x="28575" y="95250"/>
                </a:lnTo>
                <a:cubicBezTo>
                  <a:pt x="28575" y="97869"/>
                  <a:pt x="30718" y="100013"/>
                  <a:pt x="33338" y="100013"/>
                </a:cubicBezTo>
                <a:lnTo>
                  <a:pt x="42863" y="100013"/>
                </a:lnTo>
                <a:cubicBezTo>
                  <a:pt x="45482" y="100013"/>
                  <a:pt x="47625" y="97869"/>
                  <a:pt x="47625" y="95250"/>
                </a:cubicBezTo>
                <a:lnTo>
                  <a:pt x="47625" y="76200"/>
                </a:lnTo>
                <a:lnTo>
                  <a:pt x="57150" y="76200"/>
                </a:lnTo>
                <a:cubicBezTo>
                  <a:pt x="67657" y="76200"/>
                  <a:pt x="76200" y="84743"/>
                  <a:pt x="76200" y="95250"/>
                </a:cubicBezTo>
                <a:lnTo>
                  <a:pt x="76200" y="133350"/>
                </a:lnTo>
                <a:cubicBezTo>
                  <a:pt x="76200" y="143857"/>
                  <a:pt x="67657" y="152400"/>
                  <a:pt x="571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7025" y="3219450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Smaller Ecosystem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10325" y="3562350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Fewer libraries than Python/Java. May need to write custom solutions or use Erlang libraries.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10325" y="4176712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  <a:lnTo>
                  <a:pt x="52006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19850" y="43910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77025" y="4333875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Curve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10325" y="4676775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 programming and OTP concepts require mindset shift. Not as straightforward as learning another OOP language.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0325" y="5291138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  <a:lnTo>
                  <a:pt x="52006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38900" y="5505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77025" y="5448300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Erlang Knowledge Needed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10325" y="5791200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fully leverage the ecosystem, you'll eventually need to understand Erlang syntax and libraries.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90525" cy="266700"/>
          </a:xfrm>
          <a:custGeom>
            <a:avLst/>
            <a:gdLst/>
            <a:ahLst/>
            <a:cxnLst/>
            <a:rect l="l" t="t" r="r" b="b"/>
            <a:pathLst>
              <a:path w="390525" h="266700">
                <a:moveTo>
                  <a:pt x="38101" y="0"/>
                </a:moveTo>
                <a:lnTo>
                  <a:pt x="352424" y="0"/>
                </a:lnTo>
                <a:cubicBezTo>
                  <a:pt x="373467" y="0"/>
                  <a:pt x="390525" y="17058"/>
                  <a:pt x="390525" y="38101"/>
                </a:cubicBezTo>
                <a:lnTo>
                  <a:pt x="390525" y="228599"/>
                </a:lnTo>
                <a:cubicBezTo>
                  <a:pt x="390525" y="249642"/>
                  <a:pt x="373467" y="266700"/>
                  <a:pt x="3524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57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3965" y="400050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Outlook &amp; Long-term Viability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5763" y="1452563"/>
            <a:ext cx="3676650" cy="3324225"/>
          </a:xfrm>
          <a:custGeom>
            <a:avLst/>
            <a:gdLst/>
            <a:ahLst/>
            <a:cxnLst/>
            <a:rect l="l" t="t" r="r" b="b"/>
            <a:pathLst>
              <a:path w="3676650" h="3324225">
                <a:moveTo>
                  <a:pt x="76191" y="0"/>
                </a:moveTo>
                <a:lnTo>
                  <a:pt x="3600459" y="0"/>
                </a:lnTo>
                <a:cubicBezTo>
                  <a:pt x="3642538" y="0"/>
                  <a:pt x="3676650" y="34112"/>
                  <a:pt x="3676650" y="76191"/>
                </a:cubicBezTo>
                <a:lnTo>
                  <a:pt x="3676650" y="3248034"/>
                </a:lnTo>
                <a:cubicBezTo>
                  <a:pt x="3676650" y="3290113"/>
                  <a:pt x="3642538" y="3324225"/>
                  <a:pt x="3600459" y="3324225"/>
                </a:cubicBezTo>
                <a:lnTo>
                  <a:pt x="76191" y="3324225"/>
                </a:lnTo>
                <a:cubicBezTo>
                  <a:pt x="34112" y="3324225"/>
                  <a:pt x="0" y="3290113"/>
                  <a:pt x="0" y="324803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1025" y="164782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Elixir Fits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5313" y="2105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6374" y="2066925"/>
            <a:ext cx="3067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applications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requiring instant updates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5313" y="2676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8830" y="2638425"/>
            <a:ext cx="3057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systems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millions of connected devices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075" y="3248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5825" y="3209925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Distributed systems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needing coordination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5788" y="3590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0078" y="3552825"/>
            <a:ext cx="3076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High-concurrency services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(chat, gaming, streaming)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5313" y="4162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7937" y="4124325"/>
            <a:ext cx="3057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Messaging platforms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event-driven systems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4938713"/>
            <a:ext cx="3676650" cy="771525"/>
          </a:xfrm>
          <a:custGeom>
            <a:avLst/>
            <a:gdLst/>
            <a:ahLst/>
            <a:cxnLst/>
            <a:rect l="l" t="t" r="r" b="b"/>
            <a:pathLst>
              <a:path w="3676650" h="771525">
                <a:moveTo>
                  <a:pt x="76204" y="0"/>
                </a:moveTo>
                <a:lnTo>
                  <a:pt x="3600446" y="0"/>
                </a:lnTo>
                <a:cubicBezTo>
                  <a:pt x="3642533" y="0"/>
                  <a:pt x="3676650" y="34117"/>
                  <a:pt x="3676650" y="76204"/>
                </a:cubicBezTo>
                <a:lnTo>
                  <a:pt x="3676650" y="695321"/>
                </a:lnTo>
                <a:cubicBezTo>
                  <a:pt x="3676650" y="737408"/>
                  <a:pt x="3642533" y="771525"/>
                  <a:pt x="360044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1025" y="512921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0575" y="5095875"/>
            <a:ext cx="3190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Elixir is a </a:t>
            </a: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specialized tool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a general-purpose replacement for Python/Java.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59238" y="1452563"/>
            <a:ext cx="3676650" cy="3838575"/>
          </a:xfrm>
          <a:custGeom>
            <a:avLst/>
            <a:gdLst/>
            <a:ahLst/>
            <a:cxnLst/>
            <a:rect l="l" t="t" r="r" b="b"/>
            <a:pathLst>
              <a:path w="3676650" h="3838575">
                <a:moveTo>
                  <a:pt x="76217" y="0"/>
                </a:moveTo>
                <a:lnTo>
                  <a:pt x="3600433" y="0"/>
                </a:lnTo>
                <a:cubicBezTo>
                  <a:pt x="3642527" y="0"/>
                  <a:pt x="3676650" y="34123"/>
                  <a:pt x="3676650" y="76217"/>
                </a:cubicBezTo>
                <a:lnTo>
                  <a:pt x="3676650" y="3762358"/>
                </a:lnTo>
                <a:cubicBezTo>
                  <a:pt x="3676650" y="3804452"/>
                  <a:pt x="3642527" y="3838575"/>
                  <a:pt x="3600433" y="3838575"/>
                </a:cubicBezTo>
                <a:lnTo>
                  <a:pt x="76217" y="3838575"/>
                </a:lnTo>
                <a:cubicBezTo>
                  <a:pt x="34123" y="3838575"/>
                  <a:pt x="0" y="3804452"/>
                  <a:pt x="0" y="3762358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54500" y="164782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Viability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54500" y="21240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21200" y="2066925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Growing Community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54500" y="2409825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and welcoming community. Conference attendance growing year over year.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54500" y="3024188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C677D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64025" y="3238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21200" y="3181350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Team Investment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54500" y="3524250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José Valim and team continue active development. Regular releases with new features.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54500" y="4138613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C677D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92600" y="43529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21200" y="4295775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Adoption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54500" y="4638675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Increasing adoption by high-growth companies (Discord, Pinterest, Spotify).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2713" y="1452563"/>
            <a:ext cx="3676650" cy="2981325"/>
          </a:xfrm>
          <a:custGeom>
            <a:avLst/>
            <a:gdLst/>
            <a:ahLst/>
            <a:cxnLst/>
            <a:rect l="l" t="t" r="r" b="b"/>
            <a:pathLst>
              <a:path w="3676650" h="2981325">
                <a:moveTo>
                  <a:pt x="76203" y="0"/>
                </a:moveTo>
                <a:lnTo>
                  <a:pt x="3600447" y="0"/>
                </a:lnTo>
                <a:cubicBezTo>
                  <a:pt x="3642533" y="0"/>
                  <a:pt x="3676650" y="34117"/>
                  <a:pt x="3676650" y="76203"/>
                </a:cubicBezTo>
                <a:lnTo>
                  <a:pt x="3676650" y="2905122"/>
                </a:lnTo>
                <a:cubicBezTo>
                  <a:pt x="3676650" y="2947208"/>
                  <a:pt x="3642533" y="2981325"/>
                  <a:pt x="3600447" y="2981325"/>
                </a:cubicBezTo>
                <a:lnTo>
                  <a:pt x="76203" y="2981325"/>
                </a:lnTo>
                <a:cubicBezTo>
                  <a:pt x="34117" y="2981325"/>
                  <a:pt x="0" y="2947208"/>
                  <a:pt x="0" y="29051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27975" y="164782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2025+ Predictions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27975" y="2066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94638" y="20669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47075" y="2066925"/>
            <a:ext cx="2943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startups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choosing Elixir for real-time and AI backends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27975" y="2638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94638" y="26384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747075" y="2638425"/>
            <a:ext cx="2943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Ecosystem expansion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more libraries and better tooling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27975" y="3209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94638" y="32099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47075" y="3209925"/>
            <a:ext cx="2943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AI/ML integration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Nx (numerical computing library)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27975" y="3781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94638" y="37814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47075" y="3781425"/>
            <a:ext cx="2943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"Rising language"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recognition in industry reports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32713" y="4595813"/>
            <a:ext cx="3676650" cy="1400175"/>
          </a:xfrm>
          <a:custGeom>
            <a:avLst/>
            <a:gdLst/>
            <a:ahLst/>
            <a:cxnLst/>
            <a:rect l="l" t="t" r="r" b="b"/>
            <a:pathLst>
              <a:path w="3676650" h="1400175">
                <a:moveTo>
                  <a:pt x="76198" y="0"/>
                </a:moveTo>
                <a:lnTo>
                  <a:pt x="3600452" y="0"/>
                </a:lnTo>
                <a:cubicBezTo>
                  <a:pt x="3642535" y="0"/>
                  <a:pt x="3676650" y="34115"/>
                  <a:pt x="3676650" y="76198"/>
                </a:cubicBezTo>
                <a:lnTo>
                  <a:pt x="3676650" y="1323977"/>
                </a:lnTo>
                <a:cubicBezTo>
                  <a:pt x="3676650" y="1366060"/>
                  <a:pt x="3642535" y="1400175"/>
                  <a:pt x="3600452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289875" y="4752975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BEAM Advantage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89875" y="5095875"/>
            <a:ext cx="3438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Elixir's foundation on BEAM—a battle-tested VM with 30+ years of production use—provides stability that newer languages cannot match.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71475" cy="266700"/>
          </a:xfrm>
          <a:custGeom>
            <a:avLst/>
            <a:gdLst/>
            <a:ahLst/>
            <a:cxnLst/>
            <a:rect l="l" t="t" r="r" b="b"/>
            <a:pathLst>
              <a:path w="371475" h="266700">
                <a:moveTo>
                  <a:pt x="38101" y="0"/>
                </a:moveTo>
                <a:lnTo>
                  <a:pt x="333374" y="0"/>
                </a:lnTo>
                <a:cubicBezTo>
                  <a:pt x="354417" y="0"/>
                  <a:pt x="371475" y="17058"/>
                  <a:pt x="371475" y="38101"/>
                </a:cubicBezTo>
                <a:lnTo>
                  <a:pt x="371475" y="228599"/>
                </a:lnTo>
                <a:cubicBezTo>
                  <a:pt x="371475" y="249642"/>
                  <a:pt x="354417" y="266700"/>
                  <a:pt x="3333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B9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381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1389" y="40005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Learn Elixir?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5763" y="1452563"/>
            <a:ext cx="5591175" cy="3667125"/>
          </a:xfrm>
          <a:custGeom>
            <a:avLst/>
            <a:gdLst/>
            <a:ahLst/>
            <a:cxnLst/>
            <a:rect l="l" t="t" r="r" b="b"/>
            <a:pathLst>
              <a:path w="5591175" h="3667125">
                <a:moveTo>
                  <a:pt x="76203" y="0"/>
                </a:moveTo>
                <a:lnTo>
                  <a:pt x="5514972" y="0"/>
                </a:lnTo>
                <a:cubicBezTo>
                  <a:pt x="5557030" y="0"/>
                  <a:pt x="5591175" y="34145"/>
                  <a:pt x="5591175" y="76203"/>
                </a:cubicBezTo>
                <a:lnTo>
                  <a:pt x="5591175" y="3590922"/>
                </a:lnTo>
                <a:cubicBezTo>
                  <a:pt x="5591175" y="3632980"/>
                  <a:pt x="5557030" y="3667125"/>
                  <a:pt x="5514972" y="3667125"/>
                </a:cubicBezTo>
                <a:lnTo>
                  <a:pt x="76203" y="3667125"/>
                </a:lnTo>
                <a:cubicBezTo>
                  <a:pt x="34145" y="3667125"/>
                  <a:pt x="0" y="3632980"/>
                  <a:pt x="0" y="35909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1025" y="1647825"/>
            <a:ext cx="531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1025" y="2105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5325" y="2219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6325" y="2105025"/>
            <a:ext cx="479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 Way of Thinking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6325" y="2409825"/>
            <a:ext cx="4781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Elixir teaches you to approach concurrency and fault tolerance differently. The functional paradigm expands your problem-solving toolkit.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3248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" y="33623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705" y="28902"/>
                </a:moveTo>
                <a:lnTo>
                  <a:pt x="66705" y="43666"/>
                </a:lnTo>
                <a:lnTo>
                  <a:pt x="66854" y="43815"/>
                </a:lnTo>
                <a:cubicBezTo>
                  <a:pt x="68788" y="19288"/>
                  <a:pt x="89297" y="0"/>
                  <a:pt x="114330" y="0"/>
                </a:cubicBezTo>
                <a:cubicBezTo>
                  <a:pt x="120313" y="0"/>
                  <a:pt x="126057" y="1101"/>
                  <a:pt x="131326" y="3125"/>
                </a:cubicBezTo>
                <a:cubicBezTo>
                  <a:pt x="134303" y="4256"/>
                  <a:pt x="134838" y="8037"/>
                  <a:pt x="132606" y="10299"/>
                </a:cubicBezTo>
                <a:lnTo>
                  <a:pt x="106204" y="36701"/>
                </a:lnTo>
                <a:cubicBezTo>
                  <a:pt x="105311" y="37594"/>
                  <a:pt x="104805" y="38814"/>
                  <a:pt x="104805" y="40065"/>
                </a:cubicBezTo>
                <a:lnTo>
                  <a:pt x="104805" y="52388"/>
                </a:lnTo>
                <a:cubicBezTo>
                  <a:pt x="104805" y="55007"/>
                  <a:pt x="106948" y="57150"/>
                  <a:pt x="109567" y="57150"/>
                </a:cubicBezTo>
                <a:lnTo>
                  <a:pt x="121890" y="57150"/>
                </a:lnTo>
                <a:cubicBezTo>
                  <a:pt x="123140" y="57150"/>
                  <a:pt x="124361" y="56644"/>
                  <a:pt x="125254" y="55751"/>
                </a:cubicBezTo>
                <a:lnTo>
                  <a:pt x="151656" y="29349"/>
                </a:lnTo>
                <a:cubicBezTo>
                  <a:pt x="153918" y="27087"/>
                  <a:pt x="157698" y="27652"/>
                  <a:pt x="158829" y="30629"/>
                </a:cubicBezTo>
                <a:cubicBezTo>
                  <a:pt x="160853" y="35897"/>
                  <a:pt x="161955" y="41642"/>
                  <a:pt x="161955" y="47625"/>
                </a:cubicBezTo>
                <a:cubicBezTo>
                  <a:pt x="161955" y="65663"/>
                  <a:pt x="151924" y="81379"/>
                  <a:pt x="137100" y="89446"/>
                </a:cubicBezTo>
                <a:lnTo>
                  <a:pt x="161359" y="113705"/>
                </a:lnTo>
                <a:cubicBezTo>
                  <a:pt x="166926" y="119271"/>
                  <a:pt x="166926" y="128320"/>
                  <a:pt x="161359" y="133916"/>
                </a:cubicBezTo>
                <a:lnTo>
                  <a:pt x="143470" y="151805"/>
                </a:lnTo>
                <a:cubicBezTo>
                  <a:pt x="137904" y="157371"/>
                  <a:pt x="128855" y="157371"/>
                  <a:pt x="123259" y="151805"/>
                </a:cubicBezTo>
                <a:lnTo>
                  <a:pt x="85755" y="114300"/>
                </a:lnTo>
                <a:cubicBezTo>
                  <a:pt x="77599" y="106144"/>
                  <a:pt x="75754" y="94089"/>
                  <a:pt x="80248" y="84147"/>
                </a:cubicBezTo>
                <a:lnTo>
                  <a:pt x="53251" y="57150"/>
                </a:lnTo>
                <a:lnTo>
                  <a:pt x="38487" y="57150"/>
                </a:lnTo>
                <a:cubicBezTo>
                  <a:pt x="35302" y="57150"/>
                  <a:pt x="32325" y="55572"/>
                  <a:pt x="30569" y="52923"/>
                </a:cubicBezTo>
                <a:lnTo>
                  <a:pt x="6965" y="17532"/>
                </a:lnTo>
                <a:cubicBezTo>
                  <a:pt x="5715" y="15657"/>
                  <a:pt x="5953" y="13127"/>
                  <a:pt x="7560" y="11519"/>
                </a:cubicBezTo>
                <a:lnTo>
                  <a:pt x="21074" y="-1994"/>
                </a:lnTo>
                <a:cubicBezTo>
                  <a:pt x="22681" y="-3602"/>
                  <a:pt x="25182" y="-3840"/>
                  <a:pt x="27087" y="-2590"/>
                </a:cubicBezTo>
                <a:lnTo>
                  <a:pt x="62478" y="20985"/>
                </a:lnTo>
                <a:cubicBezTo>
                  <a:pt x="65127" y="22741"/>
                  <a:pt x="66705" y="25718"/>
                  <a:pt x="66705" y="28902"/>
                </a:cubicBezTo>
                <a:close/>
                <a:moveTo>
                  <a:pt x="64175" y="88285"/>
                </a:moveTo>
                <a:cubicBezTo>
                  <a:pt x="62299" y="99298"/>
                  <a:pt x="64889" y="110936"/>
                  <a:pt x="72033" y="120253"/>
                </a:cubicBezTo>
                <a:lnTo>
                  <a:pt x="43755" y="148501"/>
                </a:lnTo>
                <a:cubicBezTo>
                  <a:pt x="35391" y="156865"/>
                  <a:pt x="21818" y="156865"/>
                  <a:pt x="13454" y="148501"/>
                </a:cubicBezTo>
                <a:cubicBezTo>
                  <a:pt x="5090" y="140137"/>
                  <a:pt x="5090" y="126563"/>
                  <a:pt x="13454" y="118199"/>
                </a:cubicBezTo>
                <a:lnTo>
                  <a:pt x="53757" y="77897"/>
                </a:lnTo>
                <a:lnTo>
                  <a:pt x="64175" y="88315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6325" y="3248025"/>
            <a:ext cx="479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Valuable for Specific Domains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6325" y="3552825"/>
            <a:ext cx="4781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you're building real-time systems, distributed applications, or high-concurrency services, Elixir is a powerful tool.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1025" y="4162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5325" y="4276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76325" y="4162425"/>
            <a:ext cx="479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Transferable Skills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6325" y="4467225"/>
            <a:ext cx="4781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Concepts learned in Elixir (immutability, message passing, supervision) apply to other languages and systems.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5763" y="5319713"/>
            <a:ext cx="5591175" cy="1057275"/>
          </a:xfrm>
          <a:custGeom>
            <a:avLst/>
            <a:gdLst/>
            <a:ahLst/>
            <a:cxnLst/>
            <a:rect l="l" t="t" r="r" b="b"/>
            <a:pathLst>
              <a:path w="5591175" h="1057275">
                <a:moveTo>
                  <a:pt x="76198" y="0"/>
                </a:moveTo>
                <a:lnTo>
                  <a:pt x="5514977" y="0"/>
                </a:lnTo>
                <a:cubicBezTo>
                  <a:pt x="5557060" y="0"/>
                  <a:pt x="5591175" y="34115"/>
                  <a:pt x="5591175" y="76198"/>
                </a:cubicBezTo>
                <a:lnTo>
                  <a:pt x="5591175" y="981077"/>
                </a:lnTo>
                <a:cubicBezTo>
                  <a:pt x="5591175" y="1023160"/>
                  <a:pt x="5557060" y="1057275"/>
                  <a:pt x="5514977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1500" y="551973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90575" y="5476875"/>
            <a:ext cx="5105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CS Students: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Learning Elixir provides insights into distributed systems, functional programming, and robust software architecture—foundational knowledge regardless of your primary language.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5063" y="1452563"/>
            <a:ext cx="5591175" cy="2409825"/>
          </a:xfrm>
          <a:custGeom>
            <a:avLst/>
            <a:gdLst/>
            <a:ahLst/>
            <a:cxnLst/>
            <a:rect l="l" t="t" r="r" b="b"/>
            <a:pathLst>
              <a:path w="5591175" h="2409825">
                <a:moveTo>
                  <a:pt x="76199" y="0"/>
                </a:moveTo>
                <a:lnTo>
                  <a:pt x="5514976" y="0"/>
                </a:lnTo>
                <a:cubicBezTo>
                  <a:pt x="5557060" y="0"/>
                  <a:pt x="5591175" y="34115"/>
                  <a:pt x="5591175" y="76199"/>
                </a:cubicBezTo>
                <a:lnTo>
                  <a:pt x="5591175" y="2333626"/>
                </a:lnTo>
                <a:cubicBezTo>
                  <a:pt x="5591175" y="2375710"/>
                  <a:pt x="5557060" y="2409825"/>
                  <a:pt x="5514976" y="2409825"/>
                </a:cubicBezTo>
                <a:lnTo>
                  <a:pt x="76199" y="2409825"/>
                </a:lnTo>
                <a:cubicBezTo>
                  <a:pt x="34115" y="2409825"/>
                  <a:pt x="0" y="2375710"/>
                  <a:pt x="0" y="2333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10325" y="1647825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Choose Elixir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38900" y="21050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15125" y="2066925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of concurrent connections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38900" y="24479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15125" y="2409825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features (chat, live updates)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38900" y="27908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15125" y="2752725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Fault-tolerant distributed systems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38900" y="3133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15125" y="309562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Cost-efficient scaling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38900" y="34766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15125" y="3438525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and messaging platforms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5063" y="4024313"/>
            <a:ext cx="5591175" cy="2066925"/>
          </a:xfrm>
          <a:custGeom>
            <a:avLst/>
            <a:gdLst/>
            <a:ahLst/>
            <a:cxnLst/>
            <a:rect l="l" t="t" r="r" b="b"/>
            <a:pathLst>
              <a:path w="5591175" h="2066925">
                <a:moveTo>
                  <a:pt x="76208" y="0"/>
                </a:moveTo>
                <a:lnTo>
                  <a:pt x="5514967" y="0"/>
                </a:lnTo>
                <a:cubicBezTo>
                  <a:pt x="5557056" y="0"/>
                  <a:pt x="5591175" y="34119"/>
                  <a:pt x="5591175" y="76208"/>
                </a:cubicBezTo>
                <a:lnTo>
                  <a:pt x="5591175" y="1990717"/>
                </a:lnTo>
                <a:cubicBezTo>
                  <a:pt x="5591175" y="2032806"/>
                  <a:pt x="5557056" y="2066925"/>
                  <a:pt x="5514967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10325" y="4219575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10325" y="463867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08787" y="4638675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 Elixir from elixir-lang.org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10325" y="49815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38032" y="4981575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 through the official Getting Started guide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10325" y="53244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41976" y="5324475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small Phoenix web application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10325" y="56673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B9F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37883" y="5667375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 the Elixir community (forums, Discord, Slack)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5063" y="6234113"/>
            <a:ext cx="5591175" cy="542925"/>
          </a:xfrm>
          <a:custGeom>
            <a:avLst/>
            <a:gdLst/>
            <a:ahLst/>
            <a:cxnLst/>
            <a:rect l="l" t="t" r="r" b="b"/>
            <a:pathLst>
              <a:path w="5591175" h="542925">
                <a:moveTo>
                  <a:pt x="76200" y="0"/>
                </a:moveTo>
                <a:lnTo>
                  <a:pt x="5514975" y="0"/>
                </a:lnTo>
                <a:cubicBezTo>
                  <a:pt x="5557059" y="0"/>
                  <a:pt x="5591175" y="34116"/>
                  <a:pt x="5591175" y="76200"/>
                </a:cubicBezTo>
                <a:lnTo>
                  <a:pt x="5591175" y="466725"/>
                </a:lnTo>
                <a:cubicBezTo>
                  <a:pt x="5591175" y="508809"/>
                  <a:pt x="5557059" y="542925"/>
                  <a:pt x="55149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34125" y="63817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best time to learn Elixir was yesterday. The second best time is now."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940" y="363940"/>
            <a:ext cx="373039" cy="254758"/>
          </a:xfrm>
          <a:custGeom>
            <a:avLst/>
            <a:gdLst/>
            <a:ahLst/>
            <a:cxnLst/>
            <a:rect l="l" t="t" r="r" b="b"/>
            <a:pathLst>
              <a:path w="373039" h="254758">
                <a:moveTo>
                  <a:pt x="36395" y="0"/>
                </a:moveTo>
                <a:lnTo>
                  <a:pt x="336644" y="0"/>
                </a:lnTo>
                <a:cubicBezTo>
                  <a:pt x="356731" y="0"/>
                  <a:pt x="373039" y="16308"/>
                  <a:pt x="373039" y="36395"/>
                </a:cubicBezTo>
                <a:lnTo>
                  <a:pt x="373039" y="218363"/>
                </a:lnTo>
                <a:cubicBezTo>
                  <a:pt x="373039" y="238464"/>
                  <a:pt x="356744" y="254758"/>
                  <a:pt x="336644" y="254758"/>
                </a:cubicBezTo>
                <a:lnTo>
                  <a:pt x="36395" y="254758"/>
                </a:lnTo>
                <a:cubicBezTo>
                  <a:pt x="16308" y="254758"/>
                  <a:pt x="0" y="238450"/>
                  <a:pt x="0" y="218363"/>
                </a:cubicBezTo>
                <a:lnTo>
                  <a:pt x="0" y="36395"/>
                </a:lnTo>
                <a:cubicBezTo>
                  <a:pt x="0" y="16294"/>
                  <a:pt x="16294" y="0"/>
                  <a:pt x="36395" y="0"/>
                </a:cubicBezTo>
                <a:close/>
              </a:path>
            </a:pathLst>
          </a:custGeom>
          <a:solidFill>
            <a:srgbClr val="5C677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3940" y="363940"/>
            <a:ext cx="436728" cy="254758"/>
          </a:xfrm>
          <a:prstGeom prst="rect">
            <a:avLst/>
          </a:prstGeom>
          <a:noFill/>
          <a:ln/>
        </p:spPr>
        <p:txBody>
          <a:bodyPr wrap="square" lIns="109182" tIns="36394" rIns="109182" bIns="36394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5C67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237" y="382137"/>
            <a:ext cx="773373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3940" y="691487"/>
            <a:ext cx="11627893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9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3940" y="1164609"/>
            <a:ext cx="727881" cy="36394"/>
          </a:xfrm>
          <a:custGeom>
            <a:avLst/>
            <a:gdLst/>
            <a:ahLst/>
            <a:cxnLst/>
            <a:rect l="l" t="t" r="r" b="b"/>
            <a:pathLst>
              <a:path w="727881" h="36394">
                <a:moveTo>
                  <a:pt x="0" y="0"/>
                </a:moveTo>
                <a:lnTo>
                  <a:pt x="727881" y="0"/>
                </a:lnTo>
                <a:lnTo>
                  <a:pt x="727881" y="36394"/>
                </a:lnTo>
                <a:lnTo>
                  <a:pt x="0" y="36394"/>
                </a:lnTo>
                <a:lnTo>
                  <a:pt x="0" y="0"/>
                </a:ln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8490" y="1387522"/>
            <a:ext cx="11455021" cy="1792406"/>
          </a:xfrm>
          <a:custGeom>
            <a:avLst/>
            <a:gdLst/>
            <a:ahLst/>
            <a:cxnLst/>
            <a:rect l="l" t="t" r="r" b="b"/>
            <a:pathLst>
              <a:path w="11455021" h="1792406">
                <a:moveTo>
                  <a:pt x="72790" y="0"/>
                </a:moveTo>
                <a:lnTo>
                  <a:pt x="11382231" y="0"/>
                </a:lnTo>
                <a:cubicBezTo>
                  <a:pt x="11422432" y="0"/>
                  <a:pt x="11455021" y="32589"/>
                  <a:pt x="11455021" y="72790"/>
                </a:cubicBezTo>
                <a:lnTo>
                  <a:pt x="11455021" y="1719616"/>
                </a:lnTo>
                <a:cubicBezTo>
                  <a:pt x="11455021" y="1759817"/>
                  <a:pt x="11422432" y="1792406"/>
                  <a:pt x="11382231" y="1792406"/>
                </a:cubicBezTo>
                <a:lnTo>
                  <a:pt x="72790" y="1792406"/>
                </a:lnTo>
                <a:cubicBezTo>
                  <a:pt x="32589" y="1792406"/>
                  <a:pt x="0" y="1759817"/>
                  <a:pt x="0" y="1719616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4B9F8E">
              <a:alpha val="10196"/>
            </a:srgbClr>
          </a:solidFill>
          <a:ln w="12700">
            <a:solidFill>
              <a:srgbClr val="4B9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5009" y="1574042"/>
            <a:ext cx="11172967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4B9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Books (Scholarly Sources)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4107" y="1974376"/>
            <a:ext cx="18197" cy="454925"/>
          </a:xfrm>
          <a:custGeom>
            <a:avLst/>
            <a:gdLst/>
            <a:ahLst/>
            <a:cxnLst/>
            <a:rect l="l" t="t" r="r" b="b"/>
            <a:pathLst>
              <a:path w="18197" h="454925">
                <a:moveTo>
                  <a:pt x="0" y="0"/>
                </a:moveTo>
                <a:lnTo>
                  <a:pt x="18197" y="0"/>
                </a:lnTo>
                <a:lnTo>
                  <a:pt x="18197" y="454925"/>
                </a:lnTo>
                <a:lnTo>
                  <a:pt x="0" y="454925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8782" y="1974376"/>
            <a:ext cx="10990997" cy="23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Thomas, D.</a:t>
            </a:r>
            <a:r>
              <a:rPr lang="en-US" sz="1146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(2018). Programming Elixir ≥ 1.6: Functional |&gt; Concurrent |&gt; Pragmatic |&gt; Fun (2nd ed.). The Pragmatic Bookshelf.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8782" y="2247331"/>
            <a:ext cx="1098189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introduction to Elixir covering functional programming, concurrency, and OTP. Written by renowned software engineer Dave Thomas.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4107" y="2538484"/>
            <a:ext cx="18197" cy="454925"/>
          </a:xfrm>
          <a:custGeom>
            <a:avLst/>
            <a:gdLst/>
            <a:ahLst/>
            <a:cxnLst/>
            <a:rect l="l" t="t" r="r" b="b"/>
            <a:pathLst>
              <a:path w="18197" h="454925">
                <a:moveTo>
                  <a:pt x="0" y="0"/>
                </a:moveTo>
                <a:lnTo>
                  <a:pt x="18197" y="0"/>
                </a:lnTo>
                <a:lnTo>
                  <a:pt x="18197" y="454925"/>
                </a:lnTo>
                <a:lnTo>
                  <a:pt x="0" y="454925"/>
                </a:lnTo>
                <a:lnTo>
                  <a:pt x="0" y="0"/>
                </a:lnTo>
                <a:close/>
              </a:path>
            </a:pathLst>
          </a:custGeom>
          <a:solidFill>
            <a:srgbClr val="4B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8782" y="2538484"/>
            <a:ext cx="10990997" cy="23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Armstrong, J.</a:t>
            </a:r>
            <a:r>
              <a:rPr lang="en-US" sz="1146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(2013). Programming Erlang: Software for a Concurrent World (2nd ed.). The Pragmatic Bookshelf.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8782" y="2811439"/>
            <a:ext cx="1098189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Written by Erlang's creator, this book covers the foundational concepts that Elixir builds upon, including OTP and distributed systems.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8490" y="3334603"/>
            <a:ext cx="11455021" cy="2028967"/>
          </a:xfrm>
          <a:custGeom>
            <a:avLst/>
            <a:gdLst/>
            <a:ahLst/>
            <a:cxnLst/>
            <a:rect l="l" t="t" r="r" b="b"/>
            <a:pathLst>
              <a:path w="11455021" h="2028967">
                <a:moveTo>
                  <a:pt x="72779" y="0"/>
                </a:moveTo>
                <a:lnTo>
                  <a:pt x="11382242" y="0"/>
                </a:lnTo>
                <a:cubicBezTo>
                  <a:pt x="11422437" y="0"/>
                  <a:pt x="11455021" y="32584"/>
                  <a:pt x="11455021" y="72779"/>
                </a:cubicBezTo>
                <a:lnTo>
                  <a:pt x="11455021" y="1956188"/>
                </a:lnTo>
                <a:cubicBezTo>
                  <a:pt x="11455021" y="1996383"/>
                  <a:pt x="11422437" y="2028967"/>
                  <a:pt x="11382242" y="2028967"/>
                </a:cubicBezTo>
                <a:lnTo>
                  <a:pt x="72779" y="2028967"/>
                </a:lnTo>
                <a:cubicBezTo>
                  <a:pt x="32584" y="2028967"/>
                  <a:pt x="0" y="1996383"/>
                  <a:pt x="0" y="1956188"/>
                </a:cubicBezTo>
                <a:lnTo>
                  <a:pt x="0" y="72779"/>
                </a:lnTo>
                <a:cubicBezTo>
                  <a:pt x="0" y="32611"/>
                  <a:pt x="32611" y="0"/>
                  <a:pt x="72779" y="0"/>
                </a:cubicBezTo>
                <a:close/>
              </a:path>
            </a:pathLst>
          </a:custGeom>
          <a:solidFill>
            <a:srgbClr val="5C677D">
              <a:alpha val="10196"/>
            </a:srgbClr>
          </a:solidFill>
          <a:ln w="12700">
            <a:solidFill>
              <a:srgbClr val="5C677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5009" y="3521122"/>
            <a:ext cx="11172967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5C67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Papers &amp; Theses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4107" y="3921457"/>
            <a:ext cx="18197" cy="454925"/>
          </a:xfrm>
          <a:custGeom>
            <a:avLst/>
            <a:gdLst/>
            <a:ahLst/>
            <a:cxnLst/>
            <a:rect l="l" t="t" r="r" b="b"/>
            <a:pathLst>
              <a:path w="18197" h="454925">
                <a:moveTo>
                  <a:pt x="0" y="0"/>
                </a:moveTo>
                <a:lnTo>
                  <a:pt x="18197" y="0"/>
                </a:lnTo>
                <a:lnTo>
                  <a:pt x="18197" y="454925"/>
                </a:lnTo>
                <a:lnTo>
                  <a:pt x="0" y="454925"/>
                </a:lnTo>
                <a:lnTo>
                  <a:pt x="0" y="0"/>
                </a:ln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8782" y="3921457"/>
            <a:ext cx="10990997" cy="23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Armstrong, J.</a:t>
            </a:r>
            <a:r>
              <a:rPr lang="en-US" sz="1146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(2003). Making reliable distributed systems in the presence of software errors [Ph.D. thesis]. Royal Institute of Technology, Stockholm, Sweden.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8782" y="4194412"/>
            <a:ext cx="1098189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Foundational academic work on fault-tolerant distributed systems. Introduces the "let it crash" philosophy and supervision trees.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4107" y="4485564"/>
            <a:ext cx="18197" cy="691487"/>
          </a:xfrm>
          <a:custGeom>
            <a:avLst/>
            <a:gdLst/>
            <a:ahLst/>
            <a:cxnLst/>
            <a:rect l="l" t="t" r="r" b="b"/>
            <a:pathLst>
              <a:path w="18197" h="691487">
                <a:moveTo>
                  <a:pt x="0" y="0"/>
                </a:moveTo>
                <a:lnTo>
                  <a:pt x="18197" y="0"/>
                </a:lnTo>
                <a:lnTo>
                  <a:pt x="18197" y="691487"/>
                </a:lnTo>
                <a:lnTo>
                  <a:pt x="0" y="691487"/>
                </a:lnTo>
                <a:lnTo>
                  <a:pt x="0" y="0"/>
                </a:lnTo>
                <a:close/>
              </a:path>
            </a:pathLst>
          </a:custGeom>
          <a:solidFill>
            <a:srgbClr val="5C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8782" y="4485564"/>
            <a:ext cx="10990997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Trinder, P., Chechina, N., Papaspyrou, N., Sagonas, K., Thompson, S., Adams, S., Aronis, S., Baker, R., Bihari, E., Boudeville, O., et al.</a:t>
            </a:r>
            <a:r>
              <a:rPr lang="en-US" sz="1146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(2017). Scaling reliably: Improving the scalability of the Erlang distributed actor platform. ACM Transactions on Programming Languages and Systems (TOPLAS), 39(1), 1-46. https://doi.org/10.1145/3107937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8782" y="4995081"/>
            <a:ext cx="1098189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Peer-reviewed research on BEAM's scalability limits and improvements for distributed actor systems.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8490" y="5518245"/>
            <a:ext cx="11455021" cy="1100919"/>
          </a:xfrm>
          <a:custGeom>
            <a:avLst/>
            <a:gdLst/>
            <a:ahLst/>
            <a:cxnLst/>
            <a:rect l="l" t="t" r="r" b="b"/>
            <a:pathLst>
              <a:path w="11455021" h="1100919">
                <a:moveTo>
                  <a:pt x="72793" y="0"/>
                </a:moveTo>
                <a:lnTo>
                  <a:pt x="11382228" y="0"/>
                </a:lnTo>
                <a:cubicBezTo>
                  <a:pt x="11422430" y="0"/>
                  <a:pt x="11455021" y="32590"/>
                  <a:pt x="11455021" y="72793"/>
                </a:cubicBezTo>
                <a:lnTo>
                  <a:pt x="11455021" y="1028127"/>
                </a:lnTo>
                <a:cubicBezTo>
                  <a:pt x="11455021" y="1068329"/>
                  <a:pt x="11422430" y="1100919"/>
                  <a:pt x="11382228" y="1100919"/>
                </a:cubicBezTo>
                <a:lnTo>
                  <a:pt x="72793" y="1100919"/>
                </a:lnTo>
                <a:cubicBezTo>
                  <a:pt x="32590" y="1100919"/>
                  <a:pt x="0" y="1068329"/>
                  <a:pt x="0" y="1028127"/>
                </a:cubicBezTo>
                <a:lnTo>
                  <a:pt x="0" y="72793"/>
                </a:lnTo>
                <a:cubicBezTo>
                  <a:pt x="0" y="32590"/>
                  <a:pt x="32590" y="0"/>
                  <a:pt x="72793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8615" y="5668370"/>
            <a:ext cx="11236657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Resources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8615" y="6059606"/>
            <a:ext cx="1559470" cy="15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Official Documentation: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4191" y="6250675"/>
            <a:ext cx="5431809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elixir-lang.org, hexdocs.pm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0778" y="6059606"/>
            <a:ext cx="845806" cy="15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16354" y="6250675"/>
            <a:ext cx="5431809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ElixirForum, ElixirConf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3041</Words>
  <Application>Microsoft Macintosh PowerPoint</Application>
  <PresentationFormat>Widescreen</PresentationFormat>
  <Paragraphs>517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微软雅黑</vt:lpstr>
      <vt:lpstr>Liter</vt:lpstr>
      <vt:lpstr>Quattrocento Sans</vt:lpstr>
      <vt:lpstr>Arial</vt:lpstr>
      <vt:lpstr>Hedvig Letters Sans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Elixir: A Modern Functional Programming Language</dc:title>
  <dc:subject>Elixir: A Modern Functional Programming Language</dc:subject>
  <dc:creator>Kimi</dc:creator>
  <cp:lastModifiedBy>Prajun Trital</cp:lastModifiedBy>
  <cp:revision>5</cp:revision>
  <dcterms:created xsi:type="dcterms:W3CDTF">2026-02-11T21:54:25Z</dcterms:created>
  <dcterms:modified xsi:type="dcterms:W3CDTF">2026-03-11T17:44:12Z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{"Label":"Elixir: A Modern Functional Programming Language","ContentProducer":"001191110108MACG2KBH8F10000","ProduceID":"19c4ead2-5562-8af2-8000-0000d2b7ce96","ReservedCode1":"","ContentPropagator":"001191110108MACG2KBH8F20000","PropagateID":"19c4ead2-5562-8af2-8000-0000d2b7ce96","ReservedCode2":""}</vt:lpwstr>
  </property>
</Properties>
</file>